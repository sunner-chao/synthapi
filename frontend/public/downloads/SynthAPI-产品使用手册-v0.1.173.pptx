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  <Relationship Id="rId21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这份手册带你从 SynthAPI 首页出发，完成登录、创建 API Key、发出第一条请求和核对用量。页面中的截图都来自当前 SynthAPI 站点，密钥等敏感内容已经脱敏。接下来我们会沿着一条真实用户路径逐步操作，不需要先理解后台的全部设置。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整个接入可以拆成六步：首页、登录、控制台、API Key、请求和用量记录。每一步都有一个明确的成功信号，例如能看到侧栏、Key 状态活跃、请求返回二百以及用量页出现记录。只要其中任何一环断开，就先在该环节停下来排查，而不是反复发送请求。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从站点首页找到控制台入口，再使用已经验证的邮箱和密码登录。登录成功的最简单判断，是页面出现用户侧栏和控制台内容。忘记密码时使用找回入口；如果站点关闭公开注册，应联系管理员创建账号，不要重复注册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进入控制台后，第一次只看三个位置。侧栏告诉你去哪里管理 Key、用量和渠道状态，账户区域告诉你是否有余额或订阅权益，趋势和最近记录则会在有真实请求后出现。当前账号没有请求时显示空数据是正常状态，不等于服务故障。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创建 API Key 时，名称要能说明它属于哪个应用或环境，分组要与计划调用的模型一致。创建成功后应立即安全保存完整 Key，因为后续列表通常只显示脱敏值。不要把 Key 写进前端代码、公开仓库、聊天记录或工单截图。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现在把四个经常混淆的对象分开。Key 标识调用者，分组定义允许使用的模型和规则，渠道决定请求发往哪里，上游账号则真正持有凭证、额度和并发状态。渠道显示正常并不能证明账号一定可调度，这也是很多五零三错误的根本原因。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第一条请求只需要把三个核心部分写对：正确的基础地址、Bearer 认证头，以及与分组一致的模型和消息内容。示例中的 Key 是占位符，不能直接使用。发送前再检查路径、空格和模型名，可以避免大多数四零一、四零三和四零四问题。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请求返回二百只是成功证据的第一层。还要确认响应体是有效 JSON、包含模型内容、保留请求 ID，并在用量页核对对应记录和费用。这样才能证明请求、计费和记录三个环节都已完成。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图片和视频任务通常不是一次连接等待到底，而是先提交、得到任务 ID、轮询状态，最后取得结果地址。应保存任务 ID，设置合理查询间隔和最大等待时间。短时间没有结果不等于失败，只有明确完成或明确失败才是终态。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使用密钥的配置弹窗会给出模型名、基础地址和接口协议。模型名必须逐字符使用，基础地址要保持站点给出的形式，媒体模型还要查看专用接口和能力说明。当前站点未开放模型广场时，应以管理员提供的分组模型清单为准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用量页用于回答谁在什么时间调用了哪个模型，以及消耗了多少 Token 或媒体额度。先按时间缩小范围，再核对模型、端点、分组和费用。流式请求可能在连接结束后才写入最终记录，因此以用量页最终金额为准。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遇到五零三或五二四，先记录模型、时间、请求 ID、状态码和一次低频重试结果。五零三优先排查可用账号、额度、并发和分组绑定；五二四优先排查上游生成时间、代理超时和流式连接。渠道状态页只提供一层信号，不能代替账号池和模型能力检查。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API Key 应按密码级别管理：不公开、按环境分开、设置最小权限、及时轮换、保留请求 ID，并且只向可信 HTTPS 域名发送。怀疑泄露时，先禁用旧 Key，再创建并替换新 Key，随后检查用量记录和公开位置。完整凭证不应出现在任何支持工单中。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最后检查六项：账号可登录、Key 活跃、模型明确、请求返回二百、用量可核对、排错信息齐全。在线指南按普通用户、管理员和运维角色提供清晰入口，也支持下载 PDF 和可编辑的 PPTX。遇到问题时，先保存请求 ID，再开始排错。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76f57bf4e44c1dbf.pn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76f57bf4e44c1dbf.png"/>
  <Relationship Id="rId3" Type="http://schemas.openxmlformats.org/officeDocument/2006/relationships/image" Target="../media/image_af182c9a494cce71.jpg"/>
  <Relationship Id="rId4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99b24a8947d02717.pn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e202147d0c3a28c1.jp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6b7d0c5379a8cbc6.jpg"/>
  <Relationship Id="rId3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3c35ae71d89ad2a4.pn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0a9cbf752179d539.png"/>
  <Relationship Id="rId3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1.xml"/>
  <Relationship Id="rId2" Type="http://schemas.openxmlformats.org/officeDocument/2006/relationships/image" Target="../media/image_46318b2bad25b866.png"/>
  <Relationship Id="rId3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323850" cy="68580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323850" y="0"/>
              <a:ext cx="5048250" cy="6858000"/>
            </a:xfrm>
            <a:prstGeom prst="rect">
              <a:avLst/>
            </a:prstGeom>
            <a:solidFill>
              <a:srgbClr val="F4F8FA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819150" y="742950"/>
            <a:ext cx="4617872" cy="2424684"/>
            <a:chOff x="819150" y="742950"/>
            <a:chExt cx="4617872" cy="2424684"/>
          </a:xfrm>
        </p:grpSpPr>
        <p:sp>
          <p:nvSpPr>
            <p:cNvPr id="6" name="Rectangle 6"/>
            <p:cNvSpPr/>
            <p:nvPr/>
          </p:nvSpPr>
          <p:spPr>
            <a:xfrm>
              <a:off x="838200" y="742950"/>
              <a:ext cx="1657350" cy="323850"/>
            </a:xfrm>
            <a:prstGeom prst="roundRect">
              <a:avLst>
                <a:gd name="adj" fmla="val 41176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82787" y="832485"/>
              <a:ext cx="1168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SYNTHAPI 手册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19150" y="1379220"/>
              <a:ext cx="461787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产品使用手册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27532" y="2230755"/>
              <a:ext cx="347136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从登录到第一条 API 请求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29056" y="2815590"/>
              <a:ext cx="35439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按清晰的 1 / 2 / 3 步骤完成接入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95350" y="3543300"/>
            <a:ext cx="1992630" cy="2019300"/>
            <a:chOff x="895350" y="3543300"/>
            <a:chExt cx="1992630" cy="2019300"/>
          </a:xfrm>
        </p:grpSpPr>
        <p:sp>
          <p:nvSpPr>
            <p:cNvPr id="12" name="Ellipse 12"/>
            <p:cNvSpPr/>
            <p:nvPr/>
          </p:nvSpPr>
          <p:spPr>
            <a:xfrm>
              <a:off x="895350" y="3543300"/>
              <a:ext cx="419100" cy="4191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38973" y="36671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459230" y="365760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登录站点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104900" y="4010025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28575">
              <a:solidFill>
                <a:srgbClr val="CBD5E1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895350" y="4343400"/>
              <a:ext cx="419100" cy="4191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38973" y="44672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459230" y="4457700"/>
              <a:ext cx="11991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创建 API Key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104900" y="4810125"/>
              <a:ext cx="9525" cy="266700"/>
            </a:xfrm>
            <a:custGeom>
              <a:avLst/>
              <a:gdLst/>
              <a:ahLst/>
              <a:cxnLst/>
              <a:rect l="l" t="t" r="r" b="b"/>
              <a:pathLst>
                <a:path w="9525" h="266700">
                  <a:moveTo>
                    <a:pt x="0" y="0"/>
                  </a:moveTo>
                  <a:lnTo>
                    <a:pt x="0" y="266700"/>
                  </a:lnTo>
                </a:path>
              </a:pathLst>
            </a:custGeom>
            <a:noFill/>
            <a:ln w="28575">
              <a:solidFill>
                <a:srgbClr val="CBD5E1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895350" y="5143500"/>
              <a:ext cx="419100" cy="4191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38973" y="52673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59230" y="525780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核对请求与用量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810250" y="819150"/>
            <a:ext cx="5962650" cy="5029200"/>
            <a:chOff x="5810250" y="819150"/>
            <a:chExt cx="5962650" cy="5029200"/>
          </a:xfrm>
        </p:grpSpPr>
        <p:sp>
          <p:nvSpPr>
            <p:cNvPr id="24" name="Rectangle 24"/>
            <p:cNvSpPr/>
            <p:nvPr/>
          </p:nvSpPr>
          <p:spPr>
            <a:xfrm>
              <a:off x="5810250" y="819150"/>
              <a:ext cx="5962650" cy="3810000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pic>
          <p:nvPicPr>
            <p:cNvPr id="25" name="Image 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24550" y="933450"/>
              <a:ext cx="5734050" cy="3581400"/>
            </a:xfrm>
            <a:prstGeom prst="roundRect">
              <a:avLst>
                <a:gd name="adj" fmla="val 3723"/>
              </a:avLst>
            </a:prstGeom>
          </p:spPr>
        </p:pic>
        <p:sp>
          <p:nvSpPr>
            <p:cNvPr id="26" name="Rectangle 26"/>
            <p:cNvSpPr/>
            <p:nvPr/>
          </p:nvSpPr>
          <p:spPr>
            <a:xfrm>
              <a:off x="5810250" y="4857750"/>
              <a:ext cx="5962650" cy="990600"/>
            </a:xfrm>
            <a:prstGeom prst="roundRect">
              <a:avLst>
                <a:gd name="adj" fmla="val 13462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108954" y="5090160"/>
              <a:ext cx="26582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真实页面 · synthapi.ecobim.club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105906" y="536829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先看见入口，再照着做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32866" y="6306502"/>
            <a:ext cx="10831068" cy="205359"/>
            <a:chOff x="832866" y="6306502"/>
            <a:chExt cx="10831068" cy="205359"/>
          </a:xfrm>
        </p:grpSpPr>
        <p:sp>
          <p:nvSpPr>
            <p:cNvPr id="30" name="TextBox 30"/>
            <p:cNvSpPr txBox="1"/>
            <p:nvPr/>
          </p:nvSpPr>
          <p:spPr>
            <a:xfrm>
              <a:off x="832866" y="6306502"/>
              <a:ext cx="35585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版本 0.1.173 · 在线指南 synthapi.ecobim.club/guide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497780" y="63065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143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18160" y="361950"/>
            <a:ext cx="5839968" cy="843534"/>
            <a:chOff x="518160" y="361950"/>
            <a:chExt cx="5839968" cy="843534"/>
          </a:xfrm>
        </p:grpSpPr>
        <p:sp>
          <p:nvSpPr>
            <p:cNvPr id="5" name="TextBox 5"/>
            <p:cNvSpPr txBox="1"/>
            <p:nvPr/>
          </p:nvSpPr>
          <p:spPr>
            <a:xfrm>
              <a:off x="518160" y="361950"/>
              <a:ext cx="554316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你只需要沿着一条用户路径走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4256" y="85344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从首页进入，到用量页核对，六步构成一次完整接入。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152650" y="2895600"/>
            <a:ext cx="7810500" cy="1"/>
            <a:chOff x="2152650" y="2895600"/>
            <a:chExt cx="7810500" cy="1"/>
          </a:xfrm>
        </p:grpSpPr>
        <p:sp>
          <p:nvSpPr>
            <p:cNvPr id="8" name="Line 8"/>
            <p:cNvSpPr/>
            <p:nvPr/>
          </p:nvSpPr>
          <p:spPr>
            <a:xfrm>
              <a:off x="2152650" y="2895600"/>
              <a:ext cx="419100" cy="1"/>
            </a:xfrm>
            <a:prstGeom prst="line">
              <a:avLst/>
            </a:prstGeom>
            <a:noFill/>
            <a:ln w="28575">
              <a:solidFill>
                <a:srgbClr val="0F766E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>
              <a:off x="4000500" y="2895600"/>
              <a:ext cx="419100" cy="1"/>
            </a:xfrm>
            <a:prstGeom prst="line">
              <a:avLst/>
            </a:prstGeom>
            <a:noFill/>
            <a:ln w="28575">
              <a:solidFill>
                <a:srgbClr val="0F766E"/>
              </a:solidFill>
              <a:tailEnd type="triangle" w="lg" len="lg"/>
            </a:ln>
          </p:spPr>
        </p:sp>
        <p:sp>
          <p:nvSpPr>
            <p:cNvPr id="10" name="Line 10"/>
            <p:cNvSpPr/>
            <p:nvPr/>
          </p:nvSpPr>
          <p:spPr>
            <a:xfrm>
              <a:off x="5848350" y="2895600"/>
              <a:ext cx="419100" cy="1"/>
            </a:xfrm>
            <a:prstGeom prst="line">
              <a:avLst/>
            </a:prstGeom>
            <a:noFill/>
            <a:ln w="28575">
              <a:solidFill>
                <a:srgbClr val="0F766E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>
              <a:off x="7696200" y="2895600"/>
              <a:ext cx="419100" cy="1"/>
            </a:xfrm>
            <a:prstGeom prst="line">
              <a:avLst/>
            </a:prstGeom>
            <a:noFill/>
            <a:ln w="28575">
              <a:solidFill>
                <a:srgbClr val="0F766E"/>
              </a:solidFill>
              <a:tailEnd type="triangle" w="lg" len="lg"/>
            </a:ln>
          </p:spPr>
        </p:sp>
        <p:sp>
          <p:nvSpPr>
            <p:cNvPr id="12" name="Line 12"/>
            <p:cNvSpPr/>
            <p:nvPr/>
          </p:nvSpPr>
          <p:spPr>
            <a:xfrm>
              <a:off x="9544050" y="2895600"/>
              <a:ext cx="419100" cy="1"/>
            </a:xfrm>
            <a:prstGeom prst="line">
              <a:avLst/>
            </a:prstGeom>
            <a:noFill/>
            <a:ln w="28575">
              <a:solidFill>
                <a:srgbClr val="0F766E"/>
              </a:solidFill>
              <a:tailEnd type="triangle" w="lg" len="lg"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533400" y="1809750"/>
            <a:ext cx="1619250" cy="2171700"/>
            <a:chOff x="533400" y="1809750"/>
            <a:chExt cx="1619250" cy="2171700"/>
          </a:xfrm>
        </p:grpSpPr>
        <p:sp>
          <p:nvSpPr>
            <p:cNvPr id="14" name="Rectangle 14"/>
            <p:cNvSpPr/>
            <p:nvPr/>
          </p:nvSpPr>
          <p:spPr>
            <a:xfrm>
              <a:off x="533400" y="1809750"/>
              <a:ext cx="1619250" cy="2171700"/>
            </a:xfrm>
            <a:prstGeom prst="roundRect">
              <a:avLst>
                <a:gd name="adj" fmla="val 8235"/>
              </a:avLst>
            </a:prstGeom>
            <a:solidFill>
              <a:srgbClr val="F4F8FA"/>
            </a:solidFill>
            <a:ln w="19050">
              <a:solidFill>
                <a:srgbClr val="CBD5E1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609600" y="1905000"/>
              <a:ext cx="419100" cy="4191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3223" y="20288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1227870" y="1955764"/>
              <a:ext cx="344610" cy="334998"/>
            </a:xfrm>
            <a:custGeom>
              <a:avLst/>
              <a:gdLst/>
              <a:ahLst/>
              <a:cxnLst/>
              <a:rect l="l" t="t" r="r" b="b"/>
              <a:pathLst>
                <a:path w="344610" h="334998">
                  <a:moveTo>
                    <a:pt x="184090" y="6507"/>
                  </a:moveTo>
                  <a:lnTo>
                    <a:pt x="334108" y="156526"/>
                  </a:lnTo>
                  <a:cubicBezTo>
                    <a:pt x="344610" y="167027"/>
                    <a:pt x="337175" y="184979"/>
                    <a:pt x="322324" y="184979"/>
                  </a:cubicBezTo>
                  <a:lnTo>
                    <a:pt x="305655" y="184979"/>
                  </a:lnTo>
                  <a:lnTo>
                    <a:pt x="305655" y="284992"/>
                  </a:lnTo>
                  <a:cubicBezTo>
                    <a:pt x="305655" y="312610"/>
                    <a:pt x="283266" y="334998"/>
                    <a:pt x="255649" y="334998"/>
                  </a:cubicBezTo>
                  <a:lnTo>
                    <a:pt x="238980" y="334998"/>
                  </a:lnTo>
                  <a:lnTo>
                    <a:pt x="238980" y="218317"/>
                  </a:lnTo>
                  <a:cubicBezTo>
                    <a:pt x="238981" y="191838"/>
                    <a:pt x="218341" y="169948"/>
                    <a:pt x="191907" y="168394"/>
                  </a:cubicBezTo>
                  <a:lnTo>
                    <a:pt x="188974" y="168311"/>
                  </a:lnTo>
                  <a:lnTo>
                    <a:pt x="155636" y="168311"/>
                  </a:lnTo>
                  <a:cubicBezTo>
                    <a:pt x="128018" y="168311"/>
                    <a:pt x="105630" y="190699"/>
                    <a:pt x="105630" y="218317"/>
                  </a:cubicBezTo>
                  <a:lnTo>
                    <a:pt x="105630" y="334998"/>
                  </a:lnTo>
                  <a:lnTo>
                    <a:pt x="88961" y="334998"/>
                  </a:lnTo>
                  <a:cubicBezTo>
                    <a:pt x="61343" y="334998"/>
                    <a:pt x="38955" y="312610"/>
                    <a:pt x="38955" y="284992"/>
                  </a:cubicBezTo>
                  <a:lnTo>
                    <a:pt x="38955" y="184979"/>
                  </a:lnTo>
                  <a:lnTo>
                    <a:pt x="22286" y="184979"/>
                  </a:lnTo>
                  <a:cubicBezTo>
                    <a:pt x="7451" y="184979"/>
                    <a:pt x="0" y="167027"/>
                    <a:pt x="10501" y="156526"/>
                  </a:cubicBezTo>
                  <a:lnTo>
                    <a:pt x="160520" y="6507"/>
                  </a:lnTo>
                  <a:cubicBezTo>
                    <a:pt x="167029" y="0"/>
                    <a:pt x="177581" y="0"/>
                    <a:pt x="184090" y="6507"/>
                  </a:cubicBezTo>
                  <a:moveTo>
                    <a:pt x="188974" y="201648"/>
                  </a:moveTo>
                  <a:cubicBezTo>
                    <a:pt x="198180" y="201648"/>
                    <a:pt x="205642" y="209111"/>
                    <a:pt x="205642" y="218317"/>
                  </a:cubicBezTo>
                  <a:lnTo>
                    <a:pt x="205642" y="334998"/>
                  </a:lnTo>
                  <a:lnTo>
                    <a:pt x="138967" y="334998"/>
                  </a:lnTo>
                  <a:lnTo>
                    <a:pt x="138967" y="218317"/>
                  </a:lnTo>
                  <a:cubicBezTo>
                    <a:pt x="138968" y="209866"/>
                    <a:pt x="145293" y="202754"/>
                    <a:pt x="153686" y="201765"/>
                  </a:cubicBezTo>
                  <a:lnTo>
                    <a:pt x="155636" y="201648"/>
                  </a:lnTo>
                  <a:close/>
                </a:path>
              </a:pathLst>
            </a:custGeom>
            <a:solidFill>
              <a:srgbClr val="0F766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13994" y="2513648"/>
              <a:ext cx="5710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首页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6280" y="2943225"/>
              <a:ext cx="115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找到登录与</a:t>
              </a:r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产品手册入口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7804" y="36042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59669"/>
                  </a:solidFill>
                  <a:latin typeface="Arial"/>
                  <a:ea typeface="Microsoft YaHei"/>
                  <a:cs typeface="Arial"/>
                </a:rPr>
                <a:t>成功：能进入站点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381250" y="1809750"/>
            <a:ext cx="1619250" cy="2171700"/>
            <a:chOff x="2381250" y="1809750"/>
            <a:chExt cx="1619250" cy="2171700"/>
          </a:xfrm>
        </p:grpSpPr>
        <p:sp>
          <p:nvSpPr>
            <p:cNvPr id="22" name="Rectangle 22"/>
            <p:cNvSpPr/>
            <p:nvPr/>
          </p:nvSpPr>
          <p:spPr>
            <a:xfrm>
              <a:off x="2381250" y="1809750"/>
              <a:ext cx="1619250" cy="2171700"/>
            </a:xfrm>
            <a:prstGeom prst="roundRect">
              <a:avLst>
                <a:gd name="adj" fmla="val 8235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2457450" y="1905000"/>
              <a:ext cx="419100" cy="4191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601073" y="20288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3131344" y="1957388"/>
              <a:ext cx="233362" cy="333374"/>
              <a:chOff x="3131344" y="1957388"/>
              <a:chExt cx="233362" cy="333374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3164681" y="1957388"/>
                <a:ext cx="166688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66688">
                    <a:moveTo>
                      <a:pt x="83344" y="0"/>
                    </a:moveTo>
                    <a:cubicBezTo>
                      <a:pt x="129373" y="0"/>
                      <a:pt x="166688" y="37314"/>
                      <a:pt x="166688" y="83344"/>
                    </a:cubicBezTo>
                    <a:cubicBezTo>
                      <a:pt x="166688" y="129373"/>
                      <a:pt x="129373" y="166688"/>
                      <a:pt x="83344" y="166688"/>
                    </a:cubicBezTo>
                    <a:cubicBezTo>
                      <a:pt x="37314" y="166688"/>
                      <a:pt x="0" y="129373"/>
                      <a:pt x="0" y="83344"/>
                    </a:cubicBezTo>
                    <a:lnTo>
                      <a:pt x="83" y="79727"/>
                    </a:lnTo>
                    <a:cubicBezTo>
                      <a:pt x="2020" y="35148"/>
                      <a:pt x="38723" y="3"/>
                      <a:pt x="83344" y="0"/>
                    </a:cubicBezTo>
                    <a:close/>
                  </a:path>
                </a:pathLst>
              </a:custGeom>
              <a:solidFill>
                <a:srgbClr val="0F766E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3131344" y="2157412"/>
                <a:ext cx="233362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33362" h="133350">
                    <a:moveTo>
                      <a:pt x="150019" y="0"/>
                    </a:moveTo>
                    <a:cubicBezTo>
                      <a:pt x="196048" y="0"/>
                      <a:pt x="233362" y="37314"/>
                      <a:pt x="233362" y="83344"/>
                    </a:cubicBezTo>
                    <a:lnTo>
                      <a:pt x="233362" y="100012"/>
                    </a:lnTo>
                    <a:cubicBezTo>
                      <a:pt x="233362" y="118424"/>
                      <a:pt x="218437" y="133350"/>
                      <a:pt x="200025" y="133350"/>
                    </a:cubicBezTo>
                    <a:lnTo>
                      <a:pt x="33338" y="133350"/>
                    </a:lnTo>
                    <a:cubicBezTo>
                      <a:pt x="14926" y="133350"/>
                      <a:pt x="0" y="118424"/>
                      <a:pt x="0" y="100012"/>
                    </a:cubicBezTo>
                    <a:lnTo>
                      <a:pt x="0" y="83344"/>
                    </a:lnTo>
                    <a:cubicBezTo>
                      <a:pt x="0" y="37314"/>
                      <a:pt x="37314" y="0"/>
                      <a:pt x="83344" y="0"/>
                    </a:cubicBezTo>
                    <a:lnTo>
                      <a:pt x="150019" y="0"/>
                    </a:lnTo>
                    <a:close/>
                  </a:path>
                </a:pathLst>
              </a:custGeom>
              <a:solidFill>
                <a:srgbClr val="0F766E"/>
              </a:solidFill>
              <a:ln>
                <a:noFill/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2561844" y="2513648"/>
              <a:ext cx="5710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登录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564130" y="2943225"/>
              <a:ext cx="96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使用已验证</a:t>
              </a:r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邮箱和密码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65654" y="36042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59669"/>
                  </a:solidFill>
                  <a:latin typeface="Arial"/>
                  <a:ea typeface="Microsoft YaHei"/>
                  <a:cs typeface="Arial"/>
                </a:rPr>
                <a:t>成功：看见侧栏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229100" y="1809750"/>
            <a:ext cx="1619250" cy="2171700"/>
            <a:chOff x="4229100" y="1809750"/>
            <a:chExt cx="1619250" cy="2171700"/>
          </a:xfrm>
        </p:grpSpPr>
        <p:sp>
          <p:nvSpPr>
            <p:cNvPr id="32" name="Rectangle 32"/>
            <p:cNvSpPr/>
            <p:nvPr/>
          </p:nvSpPr>
          <p:spPr>
            <a:xfrm>
              <a:off x="4229100" y="1809750"/>
              <a:ext cx="1619250" cy="2171700"/>
            </a:xfrm>
            <a:prstGeom prst="roundRect">
              <a:avLst>
                <a:gd name="adj" fmla="val 8235"/>
              </a:avLst>
            </a:prstGeom>
            <a:solidFill>
              <a:srgbClr val="F4F8FA"/>
            </a:solidFill>
            <a:ln w="19050">
              <a:solidFill>
                <a:srgbClr val="CBD5E1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4305300" y="1905000"/>
              <a:ext cx="419100" cy="4191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448923" y="20288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35" name="Freeform 35"/>
            <p:cNvSpPr/>
            <p:nvPr/>
          </p:nvSpPr>
          <p:spPr>
            <a:xfrm>
              <a:off x="4915129" y="1973286"/>
              <a:ext cx="361493" cy="300808"/>
            </a:xfrm>
            <a:custGeom>
              <a:avLst/>
              <a:gdLst/>
              <a:ahLst/>
              <a:cxnLst/>
              <a:rect l="l" t="t" r="r" b="b"/>
              <a:pathLst>
                <a:path w="361493" h="300808">
                  <a:moveTo>
                    <a:pt x="180746" y="4"/>
                  </a:moveTo>
                  <a:cubicBezTo>
                    <a:pt x="251638" y="0"/>
                    <a:pt x="314776" y="44836"/>
                    <a:pt x="338134" y="111769"/>
                  </a:cubicBezTo>
                  <a:cubicBezTo>
                    <a:pt x="361493" y="178701"/>
                    <a:pt x="339960" y="253086"/>
                    <a:pt x="284459" y="297191"/>
                  </a:cubicBezTo>
                  <a:cubicBezTo>
                    <a:pt x="281511" y="299533"/>
                    <a:pt x="277857" y="300808"/>
                    <a:pt x="274091" y="300808"/>
                  </a:cubicBezTo>
                  <a:lnTo>
                    <a:pt x="87401" y="300808"/>
                  </a:lnTo>
                  <a:cubicBezTo>
                    <a:pt x="83636" y="300808"/>
                    <a:pt x="79982" y="299533"/>
                    <a:pt x="77033" y="297191"/>
                  </a:cubicBezTo>
                  <a:cubicBezTo>
                    <a:pt x="21532" y="253086"/>
                    <a:pt x="0" y="178701"/>
                    <a:pt x="23358" y="111769"/>
                  </a:cubicBezTo>
                  <a:cubicBezTo>
                    <a:pt x="46717" y="44836"/>
                    <a:pt x="109855" y="0"/>
                    <a:pt x="180746" y="4"/>
                  </a:cubicBezTo>
                  <a:moveTo>
                    <a:pt x="250872" y="97333"/>
                  </a:moveTo>
                  <a:cubicBezTo>
                    <a:pt x="244363" y="90825"/>
                    <a:pt x="233811" y="90825"/>
                    <a:pt x="227302" y="97333"/>
                  </a:cubicBezTo>
                  <a:lnTo>
                    <a:pt x="189364" y="135237"/>
                  </a:lnTo>
                  <a:cubicBezTo>
                    <a:pt x="179685" y="132664"/>
                    <a:pt x="169362" y="134572"/>
                    <a:pt x="161242" y="140434"/>
                  </a:cubicBezTo>
                  <a:cubicBezTo>
                    <a:pt x="153122" y="146296"/>
                    <a:pt x="148063" y="155494"/>
                    <a:pt x="147459" y="165491"/>
                  </a:cubicBezTo>
                  <a:lnTo>
                    <a:pt x="147409" y="167458"/>
                  </a:lnTo>
                  <a:cubicBezTo>
                    <a:pt x="147433" y="180398"/>
                    <a:pt x="154942" y="192155"/>
                    <a:pt x="166672" y="197617"/>
                  </a:cubicBezTo>
                  <a:cubicBezTo>
                    <a:pt x="178402" y="203080"/>
                    <a:pt x="192233" y="201262"/>
                    <a:pt x="202153" y="192953"/>
                  </a:cubicBezTo>
                  <a:cubicBezTo>
                    <a:pt x="212072" y="184645"/>
                    <a:pt x="216288" y="171346"/>
                    <a:pt x="212967" y="158840"/>
                  </a:cubicBezTo>
                  <a:lnTo>
                    <a:pt x="250872" y="120902"/>
                  </a:lnTo>
                  <a:cubicBezTo>
                    <a:pt x="257379" y="114393"/>
                    <a:pt x="257379" y="103842"/>
                    <a:pt x="250872" y="97333"/>
                  </a:cubicBezTo>
                </a:path>
              </a:pathLst>
            </a:custGeom>
            <a:solidFill>
              <a:srgbClr val="0F766E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409694" y="2513648"/>
              <a:ext cx="84671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控制台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411980" y="2943225"/>
              <a:ext cx="115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确认账户与</a:t>
              </a:r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快捷入口正常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13504" y="36042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59669"/>
                  </a:solidFill>
                  <a:latin typeface="Arial"/>
                  <a:ea typeface="Microsoft YaHei"/>
                  <a:cs typeface="Arial"/>
                </a:rPr>
                <a:t>成功：页面可用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076950" y="1809750"/>
            <a:ext cx="1619250" cy="2171700"/>
            <a:chOff x="6076950" y="1809750"/>
            <a:chExt cx="1619250" cy="2171700"/>
          </a:xfrm>
        </p:grpSpPr>
        <p:sp>
          <p:nvSpPr>
            <p:cNvPr id="40" name="Rectangle 40"/>
            <p:cNvSpPr/>
            <p:nvPr/>
          </p:nvSpPr>
          <p:spPr>
            <a:xfrm>
              <a:off x="6076950" y="1809750"/>
              <a:ext cx="1619250" cy="2171700"/>
            </a:xfrm>
            <a:prstGeom prst="roundRect">
              <a:avLst>
                <a:gd name="adj" fmla="val 8235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6153150" y="1905000"/>
              <a:ext cx="419100" cy="4191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96773" y="20288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43" name="Freeform 43"/>
            <p:cNvSpPr/>
            <p:nvPr/>
          </p:nvSpPr>
          <p:spPr>
            <a:xfrm>
              <a:off x="6777038" y="1957388"/>
              <a:ext cx="333368" cy="333375"/>
            </a:xfrm>
            <a:custGeom>
              <a:avLst/>
              <a:gdLst/>
              <a:ahLst/>
              <a:cxnLst/>
              <a:rect l="l" t="t" r="r" b="b"/>
              <a:pathLst>
                <a:path w="333368" h="333375">
                  <a:moveTo>
                    <a:pt x="208693" y="0"/>
                  </a:moveTo>
                  <a:cubicBezTo>
                    <a:pt x="225845" y="0"/>
                    <a:pt x="242280" y="6818"/>
                    <a:pt x="254398" y="18936"/>
                  </a:cubicBezTo>
                  <a:lnTo>
                    <a:pt x="314439" y="78977"/>
                  </a:lnTo>
                  <a:cubicBezTo>
                    <a:pt x="326559" y="91096"/>
                    <a:pt x="333368" y="107534"/>
                    <a:pt x="333368" y="124674"/>
                  </a:cubicBezTo>
                  <a:cubicBezTo>
                    <a:pt x="333368" y="141814"/>
                    <a:pt x="326559" y="158252"/>
                    <a:pt x="314439" y="170371"/>
                  </a:cubicBezTo>
                  <a:lnTo>
                    <a:pt x="270384" y="214427"/>
                  </a:lnTo>
                  <a:cubicBezTo>
                    <a:pt x="248333" y="236457"/>
                    <a:pt x="213706" y="239625"/>
                    <a:pt x="188024" y="221961"/>
                  </a:cubicBezTo>
                  <a:lnTo>
                    <a:pt x="186273" y="220661"/>
                  </a:lnTo>
                  <a:lnTo>
                    <a:pt x="88228" y="318723"/>
                  </a:lnTo>
                  <a:cubicBezTo>
                    <a:pt x="80639" y="326286"/>
                    <a:pt x="70823" y="331212"/>
                    <a:pt x="60224" y="332775"/>
                  </a:cubicBezTo>
                  <a:lnTo>
                    <a:pt x="56557" y="333225"/>
                  </a:lnTo>
                  <a:lnTo>
                    <a:pt x="52873" y="333375"/>
                  </a:lnTo>
                  <a:lnTo>
                    <a:pt x="33338" y="333375"/>
                  </a:lnTo>
                  <a:cubicBezTo>
                    <a:pt x="16435" y="333375"/>
                    <a:pt x="2217" y="320723"/>
                    <a:pt x="150" y="302988"/>
                  </a:cubicBezTo>
                  <a:lnTo>
                    <a:pt x="0" y="300038"/>
                  </a:lnTo>
                  <a:lnTo>
                    <a:pt x="0" y="280502"/>
                  </a:lnTo>
                  <a:cubicBezTo>
                    <a:pt x="0" y="268767"/>
                    <a:pt x="4134" y="257399"/>
                    <a:pt x="12168" y="247831"/>
                  </a:cubicBezTo>
                  <a:lnTo>
                    <a:pt x="14652" y="245147"/>
                  </a:lnTo>
                  <a:lnTo>
                    <a:pt x="21553" y="238246"/>
                  </a:lnTo>
                  <a:cubicBezTo>
                    <a:pt x="24678" y="235120"/>
                    <a:pt x="28917" y="233363"/>
                    <a:pt x="33338" y="233362"/>
                  </a:cubicBezTo>
                  <a:lnTo>
                    <a:pt x="50006" y="233362"/>
                  </a:lnTo>
                  <a:lnTo>
                    <a:pt x="50006" y="216694"/>
                  </a:lnTo>
                  <a:cubicBezTo>
                    <a:pt x="50007" y="208243"/>
                    <a:pt x="56332" y="201130"/>
                    <a:pt x="64725" y="200142"/>
                  </a:cubicBezTo>
                  <a:lnTo>
                    <a:pt x="66675" y="200025"/>
                  </a:lnTo>
                  <a:lnTo>
                    <a:pt x="83344" y="200025"/>
                  </a:lnTo>
                  <a:lnTo>
                    <a:pt x="83344" y="183356"/>
                  </a:lnTo>
                  <a:cubicBezTo>
                    <a:pt x="83343" y="179692"/>
                    <a:pt x="84550" y="176131"/>
                    <a:pt x="86778" y="173222"/>
                  </a:cubicBezTo>
                  <a:lnTo>
                    <a:pt x="88228" y="171555"/>
                  </a:lnTo>
                  <a:lnTo>
                    <a:pt x="112697" y="147068"/>
                  </a:lnTo>
                  <a:lnTo>
                    <a:pt x="111431" y="145351"/>
                  </a:lnTo>
                  <a:cubicBezTo>
                    <a:pt x="104775" y="135667"/>
                    <a:pt x="100870" y="124359"/>
                    <a:pt x="100129" y="112631"/>
                  </a:cubicBezTo>
                  <a:lnTo>
                    <a:pt x="100012" y="108697"/>
                  </a:lnTo>
                  <a:cubicBezTo>
                    <a:pt x="100012" y="91545"/>
                    <a:pt x="106830" y="75109"/>
                    <a:pt x="118948" y="62991"/>
                  </a:cubicBezTo>
                  <a:lnTo>
                    <a:pt x="163004" y="18936"/>
                  </a:lnTo>
                  <a:cubicBezTo>
                    <a:pt x="175123" y="6820"/>
                    <a:pt x="191556" y="9"/>
                    <a:pt x="208693" y="0"/>
                  </a:cubicBezTo>
                  <a:moveTo>
                    <a:pt x="216944" y="83344"/>
                  </a:moveTo>
                  <a:lnTo>
                    <a:pt x="216610" y="83344"/>
                  </a:lnTo>
                  <a:cubicBezTo>
                    <a:pt x="204700" y="83344"/>
                    <a:pt x="193694" y="89698"/>
                    <a:pt x="187739" y="100012"/>
                  </a:cubicBezTo>
                  <a:cubicBezTo>
                    <a:pt x="181784" y="110327"/>
                    <a:pt x="181784" y="123035"/>
                    <a:pt x="187739" y="133350"/>
                  </a:cubicBezTo>
                  <a:cubicBezTo>
                    <a:pt x="193694" y="143665"/>
                    <a:pt x="204700" y="150019"/>
                    <a:pt x="216610" y="150019"/>
                  </a:cubicBezTo>
                  <a:lnTo>
                    <a:pt x="216944" y="150019"/>
                  </a:lnTo>
                  <a:cubicBezTo>
                    <a:pt x="235356" y="150019"/>
                    <a:pt x="250281" y="135093"/>
                    <a:pt x="250281" y="116681"/>
                  </a:cubicBezTo>
                  <a:cubicBezTo>
                    <a:pt x="250281" y="98269"/>
                    <a:pt x="235356" y="83344"/>
                    <a:pt x="216944" y="83344"/>
                  </a:cubicBezTo>
                </a:path>
              </a:pathLst>
            </a:custGeom>
            <a:solidFill>
              <a:srgbClr val="0F766E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257544" y="2513648"/>
              <a:ext cx="97803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95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API Key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59830" y="2943225"/>
              <a:ext cx="96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创建并绑定</a:t>
              </a:r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正确分组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61354" y="36042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59669"/>
                  </a:solidFill>
                  <a:latin typeface="Arial"/>
                  <a:ea typeface="Microsoft YaHei"/>
                  <a:cs typeface="Arial"/>
                </a:rPr>
                <a:t>成功：状态活跃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924800" y="1809750"/>
            <a:ext cx="1619250" cy="2171700"/>
            <a:chOff x="7924800" y="1809750"/>
            <a:chExt cx="1619250" cy="2171700"/>
          </a:xfrm>
        </p:grpSpPr>
        <p:sp>
          <p:nvSpPr>
            <p:cNvPr id="48" name="Rectangle 48"/>
            <p:cNvSpPr/>
            <p:nvPr/>
          </p:nvSpPr>
          <p:spPr>
            <a:xfrm>
              <a:off x="7924800" y="1809750"/>
              <a:ext cx="1619250" cy="2171700"/>
            </a:xfrm>
            <a:prstGeom prst="roundRect">
              <a:avLst>
                <a:gd name="adj" fmla="val 8235"/>
              </a:avLst>
            </a:prstGeom>
            <a:solidFill>
              <a:srgbClr val="F4F8FA"/>
            </a:solidFill>
            <a:ln w="19050">
              <a:solidFill>
                <a:srgbClr val="CBD5E1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8001000" y="1905000"/>
              <a:ext cx="419100" cy="4191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144623" y="20288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51" name="Freeform 51"/>
            <p:cNvSpPr/>
            <p:nvPr/>
          </p:nvSpPr>
          <p:spPr>
            <a:xfrm>
              <a:off x="8624885" y="1949921"/>
              <a:ext cx="350992" cy="352361"/>
            </a:xfrm>
            <a:custGeom>
              <a:avLst/>
              <a:gdLst/>
              <a:ahLst/>
              <a:cxnLst/>
              <a:rect l="l" t="t" r="r" b="b"/>
              <a:pathLst>
                <a:path w="350992" h="352361">
                  <a:moveTo>
                    <a:pt x="250033" y="29803"/>
                  </a:moveTo>
                  <a:cubicBezTo>
                    <a:pt x="320089" y="70249"/>
                    <a:pt x="350992" y="155156"/>
                    <a:pt x="323324" y="231170"/>
                  </a:cubicBezTo>
                  <a:cubicBezTo>
                    <a:pt x="295656" y="307184"/>
                    <a:pt x="217406" y="352361"/>
                    <a:pt x="137742" y="338313"/>
                  </a:cubicBezTo>
                  <a:cubicBezTo>
                    <a:pt x="58078" y="324265"/>
                    <a:pt x="0" y="255047"/>
                    <a:pt x="2" y="174154"/>
                  </a:cubicBezTo>
                  <a:lnTo>
                    <a:pt x="85" y="168753"/>
                  </a:lnTo>
                  <a:cubicBezTo>
                    <a:pt x="1984" y="110196"/>
                    <a:pt x="34487" y="56934"/>
                    <a:pt x="85694" y="28467"/>
                  </a:cubicBezTo>
                  <a:cubicBezTo>
                    <a:pt x="136902" y="0"/>
                    <a:pt x="199295" y="507"/>
                    <a:pt x="250033" y="29803"/>
                  </a:cubicBezTo>
                  <a:moveTo>
                    <a:pt x="145137" y="129032"/>
                  </a:moveTo>
                  <a:cubicBezTo>
                    <a:pt x="138628" y="122525"/>
                    <a:pt x="128076" y="122525"/>
                    <a:pt x="121567" y="129032"/>
                  </a:cubicBezTo>
                  <a:lnTo>
                    <a:pt x="88230" y="162369"/>
                  </a:lnTo>
                  <a:cubicBezTo>
                    <a:pt x="81723" y="168878"/>
                    <a:pt x="81723" y="179430"/>
                    <a:pt x="88230" y="185939"/>
                  </a:cubicBezTo>
                  <a:lnTo>
                    <a:pt x="121567" y="219276"/>
                  </a:lnTo>
                  <a:cubicBezTo>
                    <a:pt x="128076" y="225784"/>
                    <a:pt x="138628" y="225784"/>
                    <a:pt x="145137" y="219276"/>
                  </a:cubicBezTo>
                  <a:lnTo>
                    <a:pt x="146520" y="217710"/>
                  </a:lnTo>
                  <a:cubicBezTo>
                    <a:pt x="151668" y="211074"/>
                    <a:pt x="151075" y="201645"/>
                    <a:pt x="145137" y="195707"/>
                  </a:cubicBezTo>
                  <a:lnTo>
                    <a:pt x="123601" y="174154"/>
                  </a:lnTo>
                  <a:lnTo>
                    <a:pt x="145137" y="152601"/>
                  </a:lnTo>
                  <a:cubicBezTo>
                    <a:pt x="151644" y="146092"/>
                    <a:pt x="151644" y="135541"/>
                    <a:pt x="145137" y="129032"/>
                  </a:cubicBezTo>
                  <a:moveTo>
                    <a:pt x="211812" y="129032"/>
                  </a:moveTo>
                  <a:cubicBezTo>
                    <a:pt x="205303" y="122525"/>
                    <a:pt x="194751" y="122525"/>
                    <a:pt x="188242" y="129032"/>
                  </a:cubicBezTo>
                  <a:lnTo>
                    <a:pt x="186859" y="130599"/>
                  </a:lnTo>
                  <a:cubicBezTo>
                    <a:pt x="181711" y="137234"/>
                    <a:pt x="182304" y="146663"/>
                    <a:pt x="188242" y="152601"/>
                  </a:cubicBezTo>
                  <a:lnTo>
                    <a:pt x="209778" y="174154"/>
                  </a:lnTo>
                  <a:lnTo>
                    <a:pt x="188242" y="195707"/>
                  </a:lnTo>
                  <a:cubicBezTo>
                    <a:pt x="181925" y="202247"/>
                    <a:pt x="182016" y="212644"/>
                    <a:pt x="188445" y="219073"/>
                  </a:cubicBezTo>
                  <a:cubicBezTo>
                    <a:pt x="194875" y="225503"/>
                    <a:pt x="205271" y="225593"/>
                    <a:pt x="211812" y="219276"/>
                  </a:cubicBezTo>
                  <a:lnTo>
                    <a:pt x="245149" y="185939"/>
                  </a:lnTo>
                  <a:cubicBezTo>
                    <a:pt x="251657" y="179430"/>
                    <a:pt x="251657" y="168878"/>
                    <a:pt x="245149" y="162369"/>
                  </a:cubicBezTo>
                  <a:close/>
                </a:path>
              </a:pathLst>
            </a:custGeom>
            <a:solidFill>
              <a:srgbClr val="0F766E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105394" y="2513648"/>
              <a:ext cx="5710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请求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07680" y="2943225"/>
              <a:ext cx="1015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带上 Key 和</a:t>
              </a:r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正确模型名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109204" y="3604260"/>
              <a:ext cx="12326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59669"/>
                  </a:solidFill>
                  <a:latin typeface="Arial"/>
                  <a:ea typeface="Microsoft YaHei"/>
                  <a:cs typeface="Arial"/>
                </a:rPr>
                <a:t>成功：HTTP 200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9772650" y="1809750"/>
            <a:ext cx="1885950" cy="2171700"/>
            <a:chOff x="9772650" y="1809750"/>
            <a:chExt cx="1885950" cy="2171700"/>
          </a:xfrm>
        </p:grpSpPr>
        <p:sp>
          <p:nvSpPr>
            <p:cNvPr id="56" name="Rectangle 56"/>
            <p:cNvSpPr/>
            <p:nvPr/>
          </p:nvSpPr>
          <p:spPr>
            <a:xfrm>
              <a:off x="9772650" y="1809750"/>
              <a:ext cx="1885950" cy="2171700"/>
            </a:xfrm>
            <a:prstGeom prst="roundRect">
              <a:avLst>
                <a:gd name="adj" fmla="val 7071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9848850" y="1905000"/>
              <a:ext cx="419100" cy="4191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992473" y="20288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6</a:t>
              </a:r>
            </a:p>
          </p:txBody>
        </p:sp>
        <p:grpSp>
          <p:nvGrpSpPr>
            <p:cNvPr id="61" name="Group 61"/>
            <p:cNvGrpSpPr/>
            <p:nvPr/>
          </p:nvGrpSpPr>
          <p:grpSpPr>
            <a:xfrm>
              <a:off x="10488937" y="2005318"/>
              <a:ext cx="300977" cy="252108"/>
              <a:chOff x="10488937" y="2005318"/>
              <a:chExt cx="300977" cy="252108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10488937" y="2224088"/>
                <a:ext cx="300977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00977" h="33338">
                    <a:moveTo>
                      <a:pt x="283838" y="0"/>
                    </a:moveTo>
                    <a:cubicBezTo>
                      <a:pt x="292658" y="10"/>
                      <a:pt x="299943" y="6888"/>
                      <a:pt x="300460" y="15692"/>
                    </a:cubicBezTo>
                    <a:cubicBezTo>
                      <a:pt x="300977" y="24496"/>
                      <a:pt x="294546" y="32179"/>
                      <a:pt x="285789" y="33221"/>
                    </a:cubicBezTo>
                    <a:lnTo>
                      <a:pt x="283838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283838" y="0"/>
                    </a:lnTo>
                    <a:close/>
                  </a:path>
                </a:pathLst>
              </a:custGeom>
              <a:solidFill>
                <a:srgbClr val="0F766E"/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10489406" y="2005318"/>
                <a:ext cx="300038" cy="185432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185432">
                    <a:moveTo>
                      <a:pt x="203692" y="8326"/>
                    </a:moveTo>
                    <a:cubicBezTo>
                      <a:pt x="209383" y="1224"/>
                      <a:pt x="219719" y="0"/>
                      <a:pt x="226912" y="5576"/>
                    </a:cubicBezTo>
                    <a:lnTo>
                      <a:pt x="228479" y="6959"/>
                    </a:lnTo>
                    <a:lnTo>
                      <a:pt x="295154" y="73634"/>
                    </a:lnTo>
                    <a:cubicBezTo>
                      <a:pt x="297744" y="76227"/>
                      <a:pt x="299408" y="79602"/>
                      <a:pt x="299887" y="83235"/>
                    </a:cubicBezTo>
                    <a:lnTo>
                      <a:pt x="300038" y="85419"/>
                    </a:lnTo>
                    <a:lnTo>
                      <a:pt x="300038" y="168763"/>
                    </a:lnTo>
                    <a:cubicBezTo>
                      <a:pt x="300036" y="177213"/>
                      <a:pt x="293712" y="184326"/>
                      <a:pt x="285319" y="185315"/>
                    </a:cubicBezTo>
                    <a:lnTo>
                      <a:pt x="283369" y="185432"/>
                    </a:lnTo>
                    <a:lnTo>
                      <a:pt x="16302" y="185432"/>
                    </a:lnTo>
                    <a:lnTo>
                      <a:pt x="14468" y="185281"/>
                    </a:lnTo>
                    <a:lnTo>
                      <a:pt x="12635" y="184948"/>
                    </a:lnTo>
                    <a:lnTo>
                      <a:pt x="10851" y="184381"/>
                    </a:lnTo>
                    <a:lnTo>
                      <a:pt x="9101" y="183615"/>
                    </a:lnTo>
                    <a:lnTo>
                      <a:pt x="7434" y="182631"/>
                    </a:lnTo>
                    <a:lnTo>
                      <a:pt x="5867" y="181464"/>
                    </a:lnTo>
                    <a:lnTo>
                      <a:pt x="4867" y="180548"/>
                    </a:lnTo>
                    <a:lnTo>
                      <a:pt x="3667" y="179181"/>
                    </a:lnTo>
                    <a:lnTo>
                      <a:pt x="2600" y="177697"/>
                    </a:lnTo>
                    <a:lnTo>
                      <a:pt x="1700" y="176097"/>
                    </a:lnTo>
                    <a:lnTo>
                      <a:pt x="1434" y="175514"/>
                    </a:lnTo>
                    <a:lnTo>
                      <a:pt x="767" y="173797"/>
                    </a:lnTo>
                    <a:lnTo>
                      <a:pt x="317" y="172030"/>
                    </a:lnTo>
                    <a:lnTo>
                      <a:pt x="67" y="170230"/>
                    </a:lnTo>
                    <a:lnTo>
                      <a:pt x="0" y="168396"/>
                    </a:lnTo>
                    <a:lnTo>
                      <a:pt x="150" y="166562"/>
                    </a:lnTo>
                    <a:lnTo>
                      <a:pt x="467" y="164812"/>
                    </a:lnTo>
                    <a:cubicBezTo>
                      <a:pt x="633" y="164146"/>
                      <a:pt x="833" y="163529"/>
                      <a:pt x="1050" y="162945"/>
                    </a:cubicBezTo>
                    <a:lnTo>
                      <a:pt x="1817" y="161195"/>
                    </a:lnTo>
                    <a:lnTo>
                      <a:pt x="2800" y="159528"/>
                    </a:lnTo>
                    <a:lnTo>
                      <a:pt x="69475" y="59516"/>
                    </a:lnTo>
                    <a:cubicBezTo>
                      <a:pt x="73697" y="53159"/>
                      <a:pt x="81696" y="50481"/>
                      <a:pt x="88894" y="53015"/>
                    </a:cubicBezTo>
                    <a:lnTo>
                      <a:pt x="90795" y="53848"/>
                    </a:lnTo>
                    <a:lnTo>
                      <a:pt x="145418" y="81152"/>
                    </a:lnTo>
                    <a:lnTo>
                      <a:pt x="203675" y="8326"/>
                    </a:lnTo>
                    <a:close/>
                  </a:path>
                </a:pathLst>
              </a:custGeom>
              <a:solidFill>
                <a:srgbClr val="0F766E"/>
              </a:solidFill>
              <a:ln>
                <a:noFill/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9953244" y="2513648"/>
              <a:ext cx="57108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用量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955530" y="2943225"/>
              <a:ext cx="11677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核对模型、</a:t>
              </a:r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Token 与费用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957054" y="36042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059669"/>
                  </a:solidFill>
                  <a:latin typeface="Arial"/>
                  <a:ea typeface="Microsoft YaHei"/>
                  <a:cs typeface="Arial"/>
                </a:rPr>
                <a:t>成功：出现记录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533400" y="4514850"/>
            <a:ext cx="11125200" cy="1200150"/>
            <a:chOff x="533400" y="4514850"/>
            <a:chExt cx="11125200" cy="1200150"/>
          </a:xfrm>
        </p:grpSpPr>
        <p:sp>
          <p:nvSpPr>
            <p:cNvPr id="66" name="Rectangle 66"/>
            <p:cNvSpPr/>
            <p:nvPr/>
          </p:nvSpPr>
          <p:spPr>
            <a:xfrm>
              <a:off x="533400" y="4514850"/>
              <a:ext cx="11125200" cy="1200150"/>
            </a:xfrm>
            <a:prstGeom prst="roundRect">
              <a:avLst>
                <a:gd name="adj" fmla="val 11111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67156" y="4758690"/>
              <a:ext cx="510692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管理员配置在路径之外，但决定路径能否走通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68680" y="5172075"/>
              <a:ext cx="82859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如果分组没有模型、渠道或可调度账号，即使用户和 Key 状态正常，请求仍可能返回 503。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28066" y="6363652"/>
            <a:ext cx="11135868" cy="205359"/>
            <a:chOff x="528066" y="6363652"/>
            <a:chExt cx="11135868" cy="205359"/>
          </a:xfrm>
        </p:grpSpPr>
        <p:sp>
          <p:nvSpPr>
            <p:cNvPr id="70" name="TextBox 70"/>
            <p:cNvSpPr txBox="1"/>
            <p:nvPr/>
          </p:nvSpPr>
          <p:spPr>
            <a:xfrm>
              <a:off x="528066" y="6363652"/>
              <a:ext cx="22934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用户旅程总览 · 界面可能随版本调整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497780" y="63636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18160" y="304800"/>
            <a:ext cx="5355336" cy="862584"/>
            <a:chOff x="518160" y="304800"/>
            <a:chExt cx="5355336" cy="862584"/>
          </a:xfrm>
        </p:grpSpPr>
        <p:sp>
          <p:nvSpPr>
            <p:cNvPr id="5" name="TextBox 5"/>
            <p:cNvSpPr txBox="1"/>
            <p:nvPr/>
          </p:nvSpPr>
          <p:spPr>
            <a:xfrm>
              <a:off x="518160" y="304800"/>
              <a:ext cx="5182724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第 1 步：从首页进入并登录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4256" y="81534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新用户先找入口，已有账号直接提交邮箱与密码。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57200" y="1356360"/>
            <a:ext cx="5295900" cy="3634740"/>
            <a:chOff x="457200" y="1356360"/>
            <a:chExt cx="5295900" cy="3634740"/>
          </a:xfrm>
        </p:grpSpPr>
        <p:sp>
          <p:nvSpPr>
            <p:cNvPr id="8" name="TextBox 8"/>
            <p:cNvSpPr txBox="1"/>
            <p:nvPr/>
          </p:nvSpPr>
          <p:spPr>
            <a:xfrm>
              <a:off x="527304" y="1356360"/>
              <a:ext cx="1033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A · 站点首页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457200" y="1619250"/>
              <a:ext cx="5295900" cy="3371850"/>
            </a:xfrm>
            <a:prstGeom prst="roundRect">
              <a:avLst>
                <a:gd name="adj" fmla="val 3955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00" y="1695450"/>
              <a:ext cx="5143500" cy="3219450"/>
            </a:xfrm>
            <a:prstGeom prst="roundRect">
              <a:avLst>
                <a:gd name="adj" fmla="val 3550"/>
              </a:avLst>
            </a:prstGeom>
          </p:spPr>
        </p:pic>
        <p:sp>
          <p:nvSpPr>
            <p:cNvPr id="11" name="Ellipse 11"/>
            <p:cNvSpPr/>
            <p:nvPr/>
          </p:nvSpPr>
          <p:spPr>
            <a:xfrm>
              <a:off x="4800600" y="1876425"/>
              <a:ext cx="419100" cy="4191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944223" y="20002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905500" y="1356360"/>
            <a:ext cx="5295900" cy="3634740"/>
            <a:chOff x="5905500" y="1356360"/>
            <a:chExt cx="5295900" cy="3634740"/>
          </a:xfrm>
        </p:grpSpPr>
        <p:sp>
          <p:nvSpPr>
            <p:cNvPr id="14" name="TextBox 14"/>
            <p:cNvSpPr txBox="1"/>
            <p:nvPr/>
          </p:nvSpPr>
          <p:spPr>
            <a:xfrm>
              <a:off x="5975604" y="1356360"/>
              <a:ext cx="1033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B · 登录页面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905500" y="1619250"/>
              <a:ext cx="5295900" cy="3371850"/>
            </a:xfrm>
            <a:prstGeom prst="roundRect">
              <a:avLst>
                <a:gd name="adj" fmla="val 3955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81700" y="1695450"/>
              <a:ext cx="5143500" cy="3219450"/>
            </a:xfrm>
            <a:prstGeom prst="roundRect">
              <a:avLst>
                <a:gd name="adj" fmla="val 3550"/>
              </a:avLst>
            </a:prstGeom>
          </p:spPr>
        </p:pic>
        <p:sp>
          <p:nvSpPr>
            <p:cNvPr id="17" name="Ellipse 17"/>
            <p:cNvSpPr/>
            <p:nvPr/>
          </p:nvSpPr>
          <p:spPr>
            <a:xfrm>
              <a:off x="7677150" y="3095625"/>
              <a:ext cx="419100" cy="4191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820773" y="32194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9077325" y="3800475"/>
              <a:ext cx="419100" cy="4191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20948" y="392430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33400" y="5257800"/>
            <a:ext cx="10591800" cy="876300"/>
            <a:chOff x="533400" y="5257800"/>
            <a:chExt cx="10591800" cy="876300"/>
          </a:xfrm>
        </p:grpSpPr>
        <p:sp>
          <p:nvSpPr>
            <p:cNvPr id="22" name="Rectangle 22"/>
            <p:cNvSpPr/>
            <p:nvPr/>
          </p:nvSpPr>
          <p:spPr>
            <a:xfrm>
              <a:off x="533400" y="5257800"/>
              <a:ext cx="3390900" cy="876300"/>
            </a:xfrm>
            <a:prstGeom prst="roundRect">
              <a:avLst>
                <a:gd name="adj" fmla="val 15217"/>
              </a:avLst>
            </a:prstGeom>
            <a:solidFill>
              <a:srgbClr val="F4F8F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666750" y="5372100"/>
              <a:ext cx="342900" cy="3429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5458" y="54806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16330" y="54006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进入控制台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17854" y="573786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首页顶部或主按钮都可进入。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038600" y="5257800"/>
              <a:ext cx="3390900" cy="876300"/>
            </a:xfrm>
            <a:prstGeom prst="roundRect">
              <a:avLst>
                <a:gd name="adj" fmla="val 15217"/>
              </a:avLst>
            </a:prstGeom>
            <a:solidFill>
              <a:srgbClr val="F4F8FA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4171950" y="5372100"/>
              <a:ext cx="342900" cy="3429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290658" y="54806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21530" y="54006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输入账号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23054" y="573786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使用已验证邮箱，注意密码大小写。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543800" y="5257800"/>
              <a:ext cx="3581400" cy="876300"/>
            </a:xfrm>
            <a:prstGeom prst="roundRect">
              <a:avLst>
                <a:gd name="adj" fmla="val 15217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7677150" y="5372100"/>
              <a:ext cx="342900" cy="3429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95858" y="548068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126730" y="54006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提交登录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128254" y="57378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看到控制台侧栏即表示登录成功。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28066" y="6401752"/>
            <a:ext cx="11135868" cy="205359"/>
            <a:chOff x="528066" y="6401752"/>
            <a:chExt cx="11135868" cy="205359"/>
          </a:xfrm>
        </p:grpSpPr>
        <p:sp>
          <p:nvSpPr>
            <p:cNvPr id="38" name="TextBox 38"/>
            <p:cNvSpPr txBox="1"/>
            <p:nvPr/>
          </p:nvSpPr>
          <p:spPr>
            <a:xfrm>
              <a:off x="528066" y="6401752"/>
              <a:ext cx="49579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忘记密码请使用找回入口；关闭公开注册时联系管理员。界面可能随版本调整。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497780" y="64017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18160" y="304800"/>
            <a:ext cx="6082284" cy="862584"/>
            <a:chOff x="518160" y="304800"/>
            <a:chExt cx="6082284" cy="862584"/>
          </a:xfrm>
        </p:grpSpPr>
        <p:sp>
          <p:nvSpPr>
            <p:cNvPr id="5" name="TextBox 5"/>
            <p:cNvSpPr txBox="1"/>
            <p:nvPr/>
          </p:nvSpPr>
          <p:spPr>
            <a:xfrm>
              <a:off x="518160" y="304800"/>
              <a:ext cx="384695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登录后先认识控制台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4256" y="815340"/>
              <a:ext cx="60761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第一次进入，只确认三个位置，不必一次看懂所有图表。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1428750"/>
            <a:ext cx="7772400" cy="4914900"/>
            <a:chOff x="457200" y="1428750"/>
            <a:chExt cx="7772400" cy="4914900"/>
          </a:xfrm>
        </p:grpSpPr>
        <p:sp>
          <p:nvSpPr>
            <p:cNvPr id="8" name="Rectangle 8"/>
            <p:cNvSpPr/>
            <p:nvPr/>
          </p:nvSpPr>
          <p:spPr>
            <a:xfrm>
              <a:off x="457200" y="1428750"/>
              <a:ext cx="7772400" cy="4914900"/>
            </a:xfrm>
            <a:prstGeom prst="roundRect">
              <a:avLst>
                <a:gd name="adj" fmla="val 2713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00" y="1504950"/>
              <a:ext cx="7620000" cy="4762500"/>
            </a:xfrm>
            <a:prstGeom prst="roundRect">
              <a:avLst>
                <a:gd name="adj" fmla="val 2400"/>
              </a:avLst>
            </a:prstGeom>
          </p:spPr>
        </p:pic>
        <p:sp>
          <p:nvSpPr>
            <p:cNvPr id="10" name="Ellipse 10"/>
            <p:cNvSpPr/>
            <p:nvPr/>
          </p:nvSpPr>
          <p:spPr>
            <a:xfrm>
              <a:off x="1257300" y="2676525"/>
              <a:ext cx="419100" cy="4191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00923" y="2800350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524250" y="2171700"/>
              <a:ext cx="419100" cy="4191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667873" y="22955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257800" y="3181350"/>
              <a:ext cx="419100" cy="4191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401423" y="33051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496300" y="1504950"/>
            <a:ext cx="3162300" cy="1314450"/>
            <a:chOff x="8496300" y="1504950"/>
            <a:chExt cx="3162300" cy="1314450"/>
          </a:xfrm>
        </p:grpSpPr>
        <p:sp>
          <p:nvSpPr>
            <p:cNvPr id="17" name="Rectangle 17"/>
            <p:cNvSpPr/>
            <p:nvPr/>
          </p:nvSpPr>
          <p:spPr>
            <a:xfrm>
              <a:off x="8496300" y="1504950"/>
              <a:ext cx="3162300" cy="1314450"/>
            </a:xfrm>
            <a:prstGeom prst="roundRect">
              <a:avLst>
                <a:gd name="adj" fmla="val 10145"/>
              </a:avLst>
            </a:prstGeom>
            <a:solidFill>
              <a:srgbClr val="F4F8F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629650" y="1676400"/>
              <a:ext cx="381000" cy="3810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60815" y="17878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9199543" y="1730472"/>
              <a:ext cx="327064" cy="272159"/>
            </a:xfrm>
            <a:custGeom>
              <a:avLst/>
              <a:gdLst/>
              <a:ahLst/>
              <a:cxnLst/>
              <a:rect l="l" t="t" r="r" b="b"/>
              <a:pathLst>
                <a:path w="327064" h="272159">
                  <a:moveTo>
                    <a:pt x="163532" y="3"/>
                  </a:moveTo>
                  <a:cubicBezTo>
                    <a:pt x="227672" y="0"/>
                    <a:pt x="284797" y="40566"/>
                    <a:pt x="305930" y="101124"/>
                  </a:cubicBezTo>
                  <a:cubicBezTo>
                    <a:pt x="327064" y="161682"/>
                    <a:pt x="307583" y="228982"/>
                    <a:pt x="257367" y="268886"/>
                  </a:cubicBezTo>
                  <a:cubicBezTo>
                    <a:pt x="254700" y="271005"/>
                    <a:pt x="251394" y="272159"/>
                    <a:pt x="247987" y="272159"/>
                  </a:cubicBezTo>
                  <a:lnTo>
                    <a:pt x="79077" y="272159"/>
                  </a:lnTo>
                  <a:cubicBezTo>
                    <a:pt x="75671" y="272159"/>
                    <a:pt x="72364" y="271005"/>
                    <a:pt x="69697" y="268886"/>
                  </a:cubicBezTo>
                  <a:cubicBezTo>
                    <a:pt x="19482" y="228982"/>
                    <a:pt x="0" y="161682"/>
                    <a:pt x="21134" y="101124"/>
                  </a:cubicBezTo>
                  <a:cubicBezTo>
                    <a:pt x="42267" y="40566"/>
                    <a:pt x="99392" y="0"/>
                    <a:pt x="163532" y="3"/>
                  </a:cubicBezTo>
                  <a:moveTo>
                    <a:pt x="226979" y="88063"/>
                  </a:moveTo>
                  <a:cubicBezTo>
                    <a:pt x="221090" y="82175"/>
                    <a:pt x="211543" y="82175"/>
                    <a:pt x="205654" y="88063"/>
                  </a:cubicBezTo>
                  <a:lnTo>
                    <a:pt x="171329" y="122357"/>
                  </a:lnTo>
                  <a:cubicBezTo>
                    <a:pt x="162572" y="120029"/>
                    <a:pt x="153232" y="121755"/>
                    <a:pt x="145886" y="127059"/>
                  </a:cubicBezTo>
                  <a:cubicBezTo>
                    <a:pt x="138539" y="132363"/>
                    <a:pt x="133961" y="140685"/>
                    <a:pt x="133415" y="149730"/>
                  </a:cubicBezTo>
                  <a:lnTo>
                    <a:pt x="133370" y="151509"/>
                  </a:lnTo>
                  <a:cubicBezTo>
                    <a:pt x="133391" y="163217"/>
                    <a:pt x="140185" y="173854"/>
                    <a:pt x="150798" y="178796"/>
                  </a:cubicBezTo>
                  <a:cubicBezTo>
                    <a:pt x="161411" y="183739"/>
                    <a:pt x="173925" y="182094"/>
                    <a:pt x="182900" y="174577"/>
                  </a:cubicBezTo>
                  <a:cubicBezTo>
                    <a:pt x="191875" y="167059"/>
                    <a:pt x="195689" y="155027"/>
                    <a:pt x="192684" y="143712"/>
                  </a:cubicBezTo>
                  <a:lnTo>
                    <a:pt x="226979" y="109387"/>
                  </a:lnTo>
                  <a:cubicBezTo>
                    <a:pt x="232866" y="103498"/>
                    <a:pt x="232866" y="93952"/>
                    <a:pt x="226979" y="88063"/>
                  </a:cubicBezTo>
                </a:path>
              </a:pathLst>
            </a:custGeom>
            <a:solidFill>
              <a:srgbClr val="0F766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669780" y="17621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侧栏入口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14054" y="2194560"/>
              <a:ext cx="210007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API 密钥、使用记录和渠道状态</a:t>
              </a:r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都从这里进入。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496300" y="2990850"/>
            <a:ext cx="3162300" cy="1314450"/>
            <a:chOff x="8496300" y="2990850"/>
            <a:chExt cx="3162300" cy="1314450"/>
          </a:xfrm>
        </p:grpSpPr>
        <p:sp>
          <p:nvSpPr>
            <p:cNvPr id="24" name="Rectangle 24"/>
            <p:cNvSpPr/>
            <p:nvPr/>
          </p:nvSpPr>
          <p:spPr>
            <a:xfrm>
              <a:off x="8496300" y="2990850"/>
              <a:ext cx="3162300" cy="1314450"/>
            </a:xfrm>
            <a:prstGeom prst="roundRect">
              <a:avLst>
                <a:gd name="adj" fmla="val 10145"/>
              </a:avLst>
            </a:prstGeom>
            <a:solidFill>
              <a:srgbClr val="F4F8FA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629650" y="3162300"/>
              <a:ext cx="381000" cy="3810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60815" y="32737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7" name="Freeform 27"/>
            <p:cNvSpPr/>
            <p:nvPr/>
          </p:nvSpPr>
          <p:spPr>
            <a:xfrm>
              <a:off x="9212262" y="3232150"/>
              <a:ext cx="301624" cy="241299"/>
            </a:xfrm>
            <a:custGeom>
              <a:avLst/>
              <a:gdLst/>
              <a:ahLst/>
              <a:cxnLst/>
              <a:rect l="l" t="t" r="r" b="b"/>
              <a:pathLst>
                <a:path w="301624" h="241299">
                  <a:moveTo>
                    <a:pt x="301624" y="90487"/>
                  </a:moveTo>
                  <a:lnTo>
                    <a:pt x="301624" y="180975"/>
                  </a:lnTo>
                  <a:cubicBezTo>
                    <a:pt x="301624" y="214291"/>
                    <a:pt x="274616" y="241299"/>
                    <a:pt x="241299" y="241299"/>
                  </a:cubicBezTo>
                  <a:lnTo>
                    <a:pt x="60325" y="241299"/>
                  </a:lnTo>
                  <a:cubicBezTo>
                    <a:pt x="27008" y="241299"/>
                    <a:pt x="0" y="214291"/>
                    <a:pt x="0" y="180975"/>
                  </a:cubicBezTo>
                  <a:lnTo>
                    <a:pt x="0" y="90487"/>
                  </a:lnTo>
                  <a:lnTo>
                    <a:pt x="301624" y="90487"/>
                  </a:lnTo>
                  <a:close/>
                  <a:moveTo>
                    <a:pt x="75557" y="150812"/>
                  </a:moveTo>
                  <a:lnTo>
                    <a:pt x="75406" y="150812"/>
                  </a:lnTo>
                  <a:cubicBezTo>
                    <a:pt x="70018" y="150839"/>
                    <a:pt x="65054" y="153738"/>
                    <a:pt x="62383" y="158418"/>
                  </a:cubicBezTo>
                  <a:cubicBezTo>
                    <a:pt x="59712" y="163098"/>
                    <a:pt x="59741" y="168847"/>
                    <a:pt x="62458" y="173499"/>
                  </a:cubicBezTo>
                  <a:cubicBezTo>
                    <a:pt x="65176" y="178152"/>
                    <a:pt x="70169" y="181002"/>
                    <a:pt x="75557" y="180975"/>
                  </a:cubicBezTo>
                  <a:cubicBezTo>
                    <a:pt x="83886" y="180975"/>
                    <a:pt x="90638" y="174223"/>
                    <a:pt x="90638" y="165893"/>
                  </a:cubicBezTo>
                  <a:cubicBezTo>
                    <a:pt x="90638" y="157564"/>
                    <a:pt x="83886" y="150812"/>
                    <a:pt x="75557" y="150812"/>
                  </a:cubicBezTo>
                  <a:moveTo>
                    <a:pt x="165893" y="150812"/>
                  </a:moveTo>
                  <a:lnTo>
                    <a:pt x="135731" y="150812"/>
                  </a:lnTo>
                  <a:cubicBezTo>
                    <a:pt x="127402" y="150812"/>
                    <a:pt x="120650" y="157564"/>
                    <a:pt x="120650" y="165893"/>
                  </a:cubicBezTo>
                  <a:cubicBezTo>
                    <a:pt x="120650" y="174223"/>
                    <a:pt x="127402" y="180975"/>
                    <a:pt x="135731" y="180975"/>
                  </a:cubicBezTo>
                  <a:lnTo>
                    <a:pt x="165893" y="180975"/>
                  </a:lnTo>
                  <a:cubicBezTo>
                    <a:pt x="174223" y="180975"/>
                    <a:pt x="180975" y="174223"/>
                    <a:pt x="180975" y="165893"/>
                  </a:cubicBezTo>
                  <a:cubicBezTo>
                    <a:pt x="180975" y="157564"/>
                    <a:pt x="174223" y="150812"/>
                    <a:pt x="165893" y="150812"/>
                  </a:cubicBezTo>
                  <a:close/>
                  <a:moveTo>
                    <a:pt x="241299" y="0"/>
                  </a:moveTo>
                  <a:cubicBezTo>
                    <a:pt x="274616" y="0"/>
                    <a:pt x="301624" y="27008"/>
                    <a:pt x="301624" y="60325"/>
                  </a:cubicBezTo>
                  <a:lnTo>
                    <a:pt x="0" y="60325"/>
                  </a:lnTo>
                  <a:cubicBezTo>
                    <a:pt x="0" y="27008"/>
                    <a:pt x="27008" y="0"/>
                    <a:pt x="60325" y="0"/>
                  </a:cubicBezTo>
                  <a:lnTo>
                    <a:pt x="241299" y="0"/>
                  </a:lnTo>
                  <a:close/>
                </a:path>
              </a:pathLst>
            </a:custGeom>
            <a:solidFill>
              <a:srgbClr val="0F766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669780" y="32480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账户状态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814054" y="3680460"/>
              <a:ext cx="19933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余额或订阅权益决定是否可以</a:t>
              </a:r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继续发起计费请求。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496300" y="4476750"/>
            <a:ext cx="3162300" cy="1314450"/>
            <a:chOff x="8496300" y="4476750"/>
            <a:chExt cx="3162300" cy="1314450"/>
          </a:xfrm>
        </p:grpSpPr>
        <p:sp>
          <p:nvSpPr>
            <p:cNvPr id="31" name="Rectangle 31"/>
            <p:cNvSpPr/>
            <p:nvPr/>
          </p:nvSpPr>
          <p:spPr>
            <a:xfrm>
              <a:off x="8496300" y="4476750"/>
              <a:ext cx="3162300" cy="1314450"/>
            </a:xfrm>
            <a:prstGeom prst="roundRect">
              <a:avLst>
                <a:gd name="adj" fmla="val 10145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629650" y="4648200"/>
              <a:ext cx="381000" cy="3810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760815" y="47596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9226919" y="4731253"/>
              <a:ext cx="272312" cy="228096"/>
              <a:chOff x="9226919" y="4731253"/>
              <a:chExt cx="272312" cy="228096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9226919" y="4929187"/>
                <a:ext cx="272312" cy="30162"/>
              </a:xfrm>
              <a:custGeom>
                <a:avLst/>
                <a:gdLst/>
                <a:ahLst/>
                <a:cxnLst/>
                <a:rect l="l" t="t" r="r" b="b"/>
                <a:pathLst>
                  <a:path w="272312" h="30162">
                    <a:moveTo>
                      <a:pt x="256806" y="0"/>
                    </a:moveTo>
                    <a:cubicBezTo>
                      <a:pt x="264785" y="9"/>
                      <a:pt x="271377" y="6232"/>
                      <a:pt x="271844" y="14197"/>
                    </a:cubicBezTo>
                    <a:cubicBezTo>
                      <a:pt x="272312" y="22163"/>
                      <a:pt x="266494" y="29114"/>
                      <a:pt x="258570" y="30057"/>
                    </a:cubicBezTo>
                    <a:lnTo>
                      <a:pt x="256806" y="30162"/>
                    </a:lnTo>
                    <a:lnTo>
                      <a:pt x="15506" y="30162"/>
                    </a:lnTo>
                    <a:cubicBezTo>
                      <a:pt x="7527" y="30154"/>
                      <a:pt x="935" y="23931"/>
                      <a:pt x="468" y="15965"/>
                    </a:cubicBezTo>
                    <a:cubicBezTo>
                      <a:pt x="0" y="7999"/>
                      <a:pt x="5818" y="1048"/>
                      <a:pt x="13742" y="106"/>
                    </a:cubicBezTo>
                    <a:lnTo>
                      <a:pt x="15506" y="0"/>
                    </a:lnTo>
                    <a:lnTo>
                      <a:pt x="25680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227344" y="4731253"/>
                <a:ext cx="271462" cy="167771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167771">
                    <a:moveTo>
                      <a:pt x="184292" y="7533"/>
                    </a:moveTo>
                    <a:cubicBezTo>
                      <a:pt x="189442" y="1108"/>
                      <a:pt x="198793" y="0"/>
                      <a:pt x="205301" y="5045"/>
                    </a:cubicBezTo>
                    <a:lnTo>
                      <a:pt x="206718" y="6296"/>
                    </a:lnTo>
                    <a:lnTo>
                      <a:pt x="267043" y="66621"/>
                    </a:lnTo>
                    <a:cubicBezTo>
                      <a:pt x="269387" y="68967"/>
                      <a:pt x="270892" y="72020"/>
                      <a:pt x="271326" y="75308"/>
                    </a:cubicBezTo>
                    <a:lnTo>
                      <a:pt x="271462" y="77284"/>
                    </a:lnTo>
                    <a:lnTo>
                      <a:pt x="271462" y="152690"/>
                    </a:lnTo>
                    <a:cubicBezTo>
                      <a:pt x="271461" y="160336"/>
                      <a:pt x="265738" y="166771"/>
                      <a:pt x="258145" y="167665"/>
                    </a:cubicBezTo>
                    <a:lnTo>
                      <a:pt x="256381" y="167771"/>
                    </a:lnTo>
                    <a:lnTo>
                      <a:pt x="14749" y="167771"/>
                    </a:lnTo>
                    <a:lnTo>
                      <a:pt x="13090" y="167635"/>
                    </a:lnTo>
                    <a:lnTo>
                      <a:pt x="11432" y="167334"/>
                    </a:lnTo>
                    <a:lnTo>
                      <a:pt x="9818" y="166821"/>
                    </a:lnTo>
                    <a:lnTo>
                      <a:pt x="8234" y="166127"/>
                    </a:lnTo>
                    <a:lnTo>
                      <a:pt x="6726" y="165237"/>
                    </a:lnTo>
                    <a:lnTo>
                      <a:pt x="5309" y="164182"/>
                    </a:lnTo>
                    <a:lnTo>
                      <a:pt x="4404" y="163352"/>
                    </a:lnTo>
                    <a:lnTo>
                      <a:pt x="3318" y="162116"/>
                    </a:lnTo>
                    <a:lnTo>
                      <a:pt x="2353" y="160773"/>
                    </a:lnTo>
                    <a:lnTo>
                      <a:pt x="1538" y="159326"/>
                    </a:lnTo>
                    <a:lnTo>
                      <a:pt x="1297" y="158798"/>
                    </a:lnTo>
                    <a:lnTo>
                      <a:pt x="694" y="157244"/>
                    </a:lnTo>
                    <a:lnTo>
                      <a:pt x="287" y="155646"/>
                    </a:lnTo>
                    <a:lnTo>
                      <a:pt x="60" y="154017"/>
                    </a:lnTo>
                    <a:lnTo>
                      <a:pt x="0" y="152358"/>
                    </a:lnTo>
                    <a:lnTo>
                      <a:pt x="136" y="150699"/>
                    </a:lnTo>
                    <a:lnTo>
                      <a:pt x="422" y="149116"/>
                    </a:lnTo>
                    <a:cubicBezTo>
                      <a:pt x="573" y="148512"/>
                      <a:pt x="754" y="147954"/>
                      <a:pt x="950" y="147426"/>
                    </a:cubicBezTo>
                    <a:lnTo>
                      <a:pt x="1644" y="145843"/>
                    </a:lnTo>
                    <a:lnTo>
                      <a:pt x="2534" y="144335"/>
                    </a:lnTo>
                    <a:lnTo>
                      <a:pt x="62859" y="53847"/>
                    </a:lnTo>
                    <a:cubicBezTo>
                      <a:pt x="66678" y="48096"/>
                      <a:pt x="73916" y="45674"/>
                      <a:pt x="80428" y="47966"/>
                    </a:cubicBezTo>
                    <a:lnTo>
                      <a:pt x="82147" y="48720"/>
                    </a:lnTo>
                    <a:lnTo>
                      <a:pt x="131569" y="73423"/>
                    </a:lnTo>
                    <a:lnTo>
                      <a:pt x="184277" y="753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9669780" y="47339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近期状态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14054" y="5166360"/>
              <a:ext cx="19933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有请求后才会出现趋势和最近</a:t>
              </a:r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使用记录；空白不代表故障。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490966" y="6077902"/>
            <a:ext cx="3172968" cy="529209"/>
            <a:chOff x="8490966" y="6077902"/>
            <a:chExt cx="3172968" cy="529209"/>
          </a:xfrm>
        </p:grpSpPr>
        <p:sp>
          <p:nvSpPr>
            <p:cNvPr id="40" name="TextBox 40"/>
            <p:cNvSpPr txBox="1"/>
            <p:nvPr/>
          </p:nvSpPr>
          <p:spPr>
            <a:xfrm>
              <a:off x="8490966" y="6077902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正常判定：侧栏可用，页面无权限错误。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497780" y="64017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18160" y="304800"/>
            <a:ext cx="6477286" cy="862584"/>
            <a:chOff x="518160" y="304800"/>
            <a:chExt cx="6477286" cy="862584"/>
          </a:xfrm>
        </p:grpSpPr>
        <p:sp>
          <p:nvSpPr>
            <p:cNvPr id="5" name="TextBox 5"/>
            <p:cNvSpPr txBox="1"/>
            <p:nvPr/>
          </p:nvSpPr>
          <p:spPr>
            <a:xfrm>
              <a:off x="518160" y="304800"/>
              <a:ext cx="647728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创建一把只给当前应用的 API Key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4256" y="815340"/>
              <a:ext cx="49437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一个应用一个 Key，便于限额、停用和追踪。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1428750"/>
            <a:ext cx="7772400" cy="4914900"/>
            <a:chOff x="457200" y="1428750"/>
            <a:chExt cx="7772400" cy="4914900"/>
          </a:xfrm>
        </p:grpSpPr>
        <p:sp>
          <p:nvSpPr>
            <p:cNvPr id="8" name="Rectangle 8"/>
            <p:cNvSpPr/>
            <p:nvPr/>
          </p:nvSpPr>
          <p:spPr>
            <a:xfrm>
              <a:off x="457200" y="1428750"/>
              <a:ext cx="7772400" cy="4914900"/>
            </a:xfrm>
            <a:prstGeom prst="roundRect">
              <a:avLst>
                <a:gd name="adj" fmla="val 2713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00" y="1504950"/>
              <a:ext cx="7620000" cy="4762500"/>
            </a:xfrm>
            <a:prstGeom prst="roundRect">
              <a:avLst>
                <a:gd name="adj" fmla="val 2400"/>
              </a:avLst>
            </a:prstGeom>
          </p:spPr>
        </p:pic>
        <p:sp>
          <p:nvSpPr>
            <p:cNvPr id="10" name="Ellipse 10"/>
            <p:cNvSpPr/>
            <p:nvPr/>
          </p:nvSpPr>
          <p:spPr>
            <a:xfrm>
              <a:off x="3952875" y="2705100"/>
              <a:ext cx="419100" cy="4191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096498" y="28289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3952875" y="3352800"/>
              <a:ext cx="419100" cy="4191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096498" y="34766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6257925" y="5448300"/>
              <a:ext cx="419100" cy="4191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401548" y="55721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496300" y="1504950"/>
            <a:ext cx="3292754" cy="2876550"/>
            <a:chOff x="8496300" y="1504950"/>
            <a:chExt cx="3292754" cy="2876550"/>
          </a:xfrm>
        </p:grpSpPr>
        <p:sp>
          <p:nvSpPr>
            <p:cNvPr id="17" name="Rectangle 17"/>
            <p:cNvSpPr/>
            <p:nvPr/>
          </p:nvSpPr>
          <p:spPr>
            <a:xfrm>
              <a:off x="8496300" y="1504950"/>
              <a:ext cx="3162300" cy="2876550"/>
            </a:xfrm>
            <a:prstGeom prst="roundRect">
              <a:avLst>
                <a:gd name="adj" fmla="val 4636"/>
              </a:avLst>
            </a:prstGeom>
            <a:solidFill>
              <a:srgbClr val="F4F8F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772144" y="1675448"/>
              <a:ext cx="13979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照着三步填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8629650" y="2171700"/>
              <a:ext cx="381000" cy="3810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60815" y="22831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174480" y="214312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名称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176004" y="2451735"/>
              <a:ext cx="26130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写清应用或环境，例如“测试脚本”。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8629650" y="2914650"/>
              <a:ext cx="381000" cy="3810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760815" y="302609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174480" y="288607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分组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176004" y="3194685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决定可用模型、渠道和倍率。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8629650" y="3657600"/>
              <a:ext cx="381000" cy="3810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760815" y="37690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174480" y="362902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创建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176004" y="3937635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确认后立即复制并安全保存。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496300" y="4591050"/>
            <a:ext cx="3361182" cy="1200150"/>
            <a:chOff x="8496300" y="4591050"/>
            <a:chExt cx="3361182" cy="1200150"/>
          </a:xfrm>
        </p:grpSpPr>
        <p:sp>
          <p:nvSpPr>
            <p:cNvPr id="32" name="Rectangle 32"/>
            <p:cNvSpPr/>
            <p:nvPr/>
          </p:nvSpPr>
          <p:spPr>
            <a:xfrm>
              <a:off x="8496300" y="4591050"/>
              <a:ext cx="3162300" cy="1200150"/>
            </a:xfrm>
            <a:prstGeom prst="roundRect">
              <a:avLst>
                <a:gd name="adj" fmla="val 11111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3" name="Freeform 33"/>
            <p:cNvSpPr/>
            <p:nvPr/>
          </p:nvSpPr>
          <p:spPr>
            <a:xfrm>
              <a:off x="8807840" y="4872038"/>
              <a:ext cx="348454" cy="333553"/>
            </a:xfrm>
            <a:custGeom>
              <a:avLst/>
              <a:gdLst/>
              <a:ahLst/>
              <a:cxnLst/>
              <a:rect l="l" t="t" r="r" b="b"/>
              <a:pathLst>
                <a:path w="348454" h="333553">
                  <a:moveTo>
                    <a:pt x="174202" y="0"/>
                  </a:moveTo>
                  <a:lnTo>
                    <a:pt x="176169" y="117"/>
                  </a:lnTo>
                  <a:lnTo>
                    <a:pt x="177152" y="250"/>
                  </a:lnTo>
                  <a:lnTo>
                    <a:pt x="178169" y="467"/>
                  </a:lnTo>
                  <a:lnTo>
                    <a:pt x="180019" y="1033"/>
                  </a:lnTo>
                  <a:cubicBezTo>
                    <a:pt x="181297" y="1505"/>
                    <a:pt x="182512" y="2132"/>
                    <a:pt x="183636" y="2900"/>
                  </a:cubicBezTo>
                  <a:lnTo>
                    <a:pt x="185370" y="4267"/>
                  </a:lnTo>
                  <a:lnTo>
                    <a:pt x="189620" y="7901"/>
                  </a:lnTo>
                  <a:cubicBezTo>
                    <a:pt x="223246" y="35831"/>
                    <a:pt x="265744" y="50828"/>
                    <a:pt x="309452" y="50190"/>
                  </a:cubicBezTo>
                  <a:lnTo>
                    <a:pt x="315153" y="50023"/>
                  </a:lnTo>
                  <a:cubicBezTo>
                    <a:pt x="322823" y="49673"/>
                    <a:pt x="329740" y="54608"/>
                    <a:pt x="331905" y="61974"/>
                  </a:cubicBezTo>
                  <a:cubicBezTo>
                    <a:pt x="348454" y="118269"/>
                    <a:pt x="341466" y="178869"/>
                    <a:pt x="312538" y="229920"/>
                  </a:cubicBezTo>
                  <a:cubicBezTo>
                    <a:pt x="283610" y="280971"/>
                    <a:pt x="235216" y="318108"/>
                    <a:pt x="178419" y="332842"/>
                  </a:cubicBezTo>
                  <a:cubicBezTo>
                    <a:pt x="175675" y="333553"/>
                    <a:pt x="172795" y="333553"/>
                    <a:pt x="170051" y="332842"/>
                  </a:cubicBezTo>
                  <a:cubicBezTo>
                    <a:pt x="113251" y="318112"/>
                    <a:pt x="64853" y="280976"/>
                    <a:pt x="35921" y="229925"/>
                  </a:cubicBezTo>
                  <a:cubicBezTo>
                    <a:pt x="6990" y="178874"/>
                    <a:pt x="0" y="118272"/>
                    <a:pt x="16549" y="61974"/>
                  </a:cubicBezTo>
                  <a:cubicBezTo>
                    <a:pt x="18714" y="54608"/>
                    <a:pt x="25631" y="49673"/>
                    <a:pt x="33301" y="50023"/>
                  </a:cubicBezTo>
                  <a:cubicBezTo>
                    <a:pt x="78931" y="52109"/>
                    <a:pt x="123696" y="37088"/>
                    <a:pt x="158833" y="7901"/>
                  </a:cubicBezTo>
                  <a:lnTo>
                    <a:pt x="163217" y="4151"/>
                  </a:lnTo>
                  <a:lnTo>
                    <a:pt x="164817" y="2900"/>
                  </a:lnTo>
                  <a:cubicBezTo>
                    <a:pt x="165941" y="2132"/>
                    <a:pt x="167156" y="1505"/>
                    <a:pt x="168434" y="1033"/>
                  </a:cubicBezTo>
                  <a:lnTo>
                    <a:pt x="170301" y="467"/>
                  </a:lnTo>
                  <a:cubicBezTo>
                    <a:pt x="170954" y="309"/>
                    <a:pt x="171617" y="192"/>
                    <a:pt x="172285" y="117"/>
                  </a:cubicBezTo>
                  <a:lnTo>
                    <a:pt x="174202" y="0"/>
                  </a:lnTo>
                  <a:close/>
                  <a:moveTo>
                    <a:pt x="236043" y="121565"/>
                  </a:moveTo>
                  <a:cubicBezTo>
                    <a:pt x="232916" y="118435"/>
                    <a:pt x="228674" y="116676"/>
                    <a:pt x="224250" y="116676"/>
                  </a:cubicBezTo>
                  <a:cubicBezTo>
                    <a:pt x="219826" y="116676"/>
                    <a:pt x="215583" y="118435"/>
                    <a:pt x="212456" y="121565"/>
                  </a:cubicBezTo>
                  <a:lnTo>
                    <a:pt x="157566" y="176439"/>
                  </a:lnTo>
                  <a:lnTo>
                    <a:pt x="136014" y="154903"/>
                  </a:lnTo>
                  <a:lnTo>
                    <a:pt x="134447" y="153519"/>
                  </a:lnTo>
                  <a:cubicBezTo>
                    <a:pt x="127494" y="148143"/>
                    <a:pt x="117561" y="149089"/>
                    <a:pt x="111748" y="155681"/>
                  </a:cubicBezTo>
                  <a:cubicBezTo>
                    <a:pt x="105935" y="162274"/>
                    <a:pt x="106240" y="172247"/>
                    <a:pt x="112444" y="178472"/>
                  </a:cubicBezTo>
                  <a:lnTo>
                    <a:pt x="145781" y="211810"/>
                  </a:lnTo>
                  <a:lnTo>
                    <a:pt x="147348" y="213193"/>
                  </a:lnTo>
                  <a:cubicBezTo>
                    <a:pt x="153984" y="218341"/>
                    <a:pt x="163413" y="217748"/>
                    <a:pt x="169351" y="211810"/>
                  </a:cubicBezTo>
                  <a:lnTo>
                    <a:pt x="236026" y="145135"/>
                  </a:lnTo>
                  <a:lnTo>
                    <a:pt x="237410" y="143568"/>
                  </a:lnTo>
                  <a:cubicBezTo>
                    <a:pt x="242557" y="136932"/>
                    <a:pt x="241964" y="127504"/>
                    <a:pt x="236026" y="12156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326880" y="4914900"/>
              <a:ext cx="24455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完整 Key 只安全保存一次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75954" y="533781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不要放进前端代码、公开仓库或工单截图。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8490966" y="6058852"/>
            <a:ext cx="3172968" cy="548259"/>
            <a:chOff x="8490966" y="6058852"/>
            <a:chExt cx="3172968" cy="548259"/>
          </a:xfrm>
        </p:grpSpPr>
        <p:sp>
          <p:nvSpPr>
            <p:cNvPr id="37" name="TextBox 37"/>
            <p:cNvSpPr txBox="1"/>
            <p:nvPr/>
          </p:nvSpPr>
          <p:spPr>
            <a:xfrm>
              <a:off x="8490966" y="6058852"/>
              <a:ext cx="25549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本页弹窗仅打开查看，未提交任何表单。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497780" y="64017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18160" y="304800"/>
            <a:ext cx="6792125" cy="862584"/>
            <a:chOff x="518160" y="304800"/>
            <a:chExt cx="6792125" cy="862584"/>
          </a:xfrm>
        </p:grpSpPr>
        <p:sp>
          <p:nvSpPr>
            <p:cNvPr id="5" name="TextBox 5"/>
            <p:cNvSpPr txBox="1"/>
            <p:nvPr/>
          </p:nvSpPr>
          <p:spPr>
            <a:xfrm>
              <a:off x="518160" y="304800"/>
              <a:ext cx="6792125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Key、分组、渠道和账号分别做什么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4256" y="81534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四个对象从用户身份一路连接到真实上游。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0" y="2457450"/>
            <a:ext cx="1" cy="2286000"/>
            <a:chOff x="6096000" y="2457450"/>
            <a:chExt cx="1" cy="2286000"/>
          </a:xfrm>
        </p:grpSpPr>
        <p:sp>
          <p:nvSpPr>
            <p:cNvPr id="8" name="Line 8"/>
            <p:cNvSpPr/>
            <p:nvPr/>
          </p:nvSpPr>
          <p:spPr>
            <a:xfrm>
              <a:off x="6096000" y="2457450"/>
              <a:ext cx="1" cy="190500"/>
            </a:xfrm>
            <a:prstGeom prst="line">
              <a:avLst/>
            </a:prstGeom>
            <a:noFill/>
            <a:ln w="28575">
              <a:solidFill>
                <a:srgbClr val="CBD5E1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>
              <a:off x="6096000" y="3505200"/>
              <a:ext cx="1" cy="190500"/>
            </a:xfrm>
            <a:prstGeom prst="line">
              <a:avLst/>
            </a:prstGeom>
            <a:noFill/>
            <a:ln w="28575">
              <a:solidFill>
                <a:srgbClr val="CBD5E1"/>
              </a:solidFill>
              <a:tailEnd type="triangle" w="lg" len="lg"/>
            </a:ln>
          </p:spPr>
        </p:sp>
        <p:sp>
          <p:nvSpPr>
            <p:cNvPr id="10" name="Line 10"/>
            <p:cNvSpPr/>
            <p:nvPr/>
          </p:nvSpPr>
          <p:spPr>
            <a:xfrm>
              <a:off x="6096000" y="4552950"/>
              <a:ext cx="1" cy="190500"/>
            </a:xfrm>
            <a:prstGeom prst="line">
              <a:avLst/>
            </a:prstGeom>
            <a:noFill/>
            <a:ln w="28575">
              <a:solidFill>
                <a:srgbClr val="CBD5E1"/>
              </a:solidFill>
              <a:tailEnd type="triangle" w="lg" len="lg"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33400" y="1619250"/>
            <a:ext cx="11125200" cy="838200"/>
            <a:chOff x="533400" y="1619250"/>
            <a:chExt cx="11125200" cy="838200"/>
          </a:xfrm>
        </p:grpSpPr>
        <p:sp>
          <p:nvSpPr>
            <p:cNvPr id="12" name="Rectangle 12"/>
            <p:cNvSpPr/>
            <p:nvPr/>
          </p:nvSpPr>
          <p:spPr>
            <a:xfrm>
              <a:off x="533400" y="1619250"/>
              <a:ext cx="11125200" cy="838200"/>
            </a:xfrm>
            <a:prstGeom prst="roundRect">
              <a:avLst>
                <a:gd name="adj" fmla="val 15909"/>
              </a:avLst>
            </a:prstGeom>
            <a:solidFill>
              <a:srgbClr val="F4F8FA"/>
            </a:solidFill>
            <a:ln w="19050">
              <a:solidFill>
                <a:srgbClr val="CBD5E1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1619250"/>
              <a:ext cx="914400" cy="838200"/>
            </a:xfrm>
            <a:prstGeom prst="roundRect">
              <a:avLst>
                <a:gd name="adj" fmla="val 15909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9707" y="18126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1790700" y="1847850"/>
              <a:ext cx="380992" cy="381000"/>
            </a:xfrm>
            <a:custGeom>
              <a:avLst/>
              <a:gdLst/>
              <a:ahLst/>
              <a:cxnLst/>
              <a:rect l="l" t="t" r="r" b="b"/>
              <a:pathLst>
                <a:path w="380992" h="381000">
                  <a:moveTo>
                    <a:pt x="238506" y="0"/>
                  </a:moveTo>
                  <a:cubicBezTo>
                    <a:pt x="258108" y="0"/>
                    <a:pt x="276892" y="7791"/>
                    <a:pt x="290741" y="21641"/>
                  </a:cubicBezTo>
                  <a:lnTo>
                    <a:pt x="359359" y="90259"/>
                  </a:lnTo>
                  <a:cubicBezTo>
                    <a:pt x="373211" y="104110"/>
                    <a:pt x="380992" y="122896"/>
                    <a:pt x="380992" y="142484"/>
                  </a:cubicBezTo>
                  <a:cubicBezTo>
                    <a:pt x="380992" y="162073"/>
                    <a:pt x="373211" y="180859"/>
                    <a:pt x="359359" y="194710"/>
                  </a:cubicBezTo>
                  <a:lnTo>
                    <a:pt x="309010" y="245059"/>
                  </a:lnTo>
                  <a:cubicBezTo>
                    <a:pt x="283809" y="270236"/>
                    <a:pt x="244235" y="273857"/>
                    <a:pt x="214884" y="253670"/>
                  </a:cubicBezTo>
                  <a:lnTo>
                    <a:pt x="212884" y="252184"/>
                  </a:lnTo>
                  <a:lnTo>
                    <a:pt x="100832" y="364255"/>
                  </a:lnTo>
                  <a:cubicBezTo>
                    <a:pt x="92159" y="372898"/>
                    <a:pt x="80940" y="378528"/>
                    <a:pt x="68828" y="380314"/>
                  </a:cubicBezTo>
                  <a:lnTo>
                    <a:pt x="64637" y="380829"/>
                  </a:lnTo>
                  <a:lnTo>
                    <a:pt x="60427" y="381000"/>
                  </a:lnTo>
                  <a:lnTo>
                    <a:pt x="38100" y="381000"/>
                  </a:lnTo>
                  <a:cubicBezTo>
                    <a:pt x="18783" y="381000"/>
                    <a:pt x="2534" y="366541"/>
                    <a:pt x="171" y="346272"/>
                  </a:cubicBezTo>
                  <a:lnTo>
                    <a:pt x="0" y="342900"/>
                  </a:lnTo>
                  <a:lnTo>
                    <a:pt x="0" y="320573"/>
                  </a:lnTo>
                  <a:cubicBezTo>
                    <a:pt x="0" y="307162"/>
                    <a:pt x="4724" y="294170"/>
                    <a:pt x="13907" y="283235"/>
                  </a:cubicBezTo>
                  <a:lnTo>
                    <a:pt x="16745" y="280168"/>
                  </a:lnTo>
                  <a:lnTo>
                    <a:pt x="24632" y="272282"/>
                  </a:lnTo>
                  <a:cubicBezTo>
                    <a:pt x="28203" y="268709"/>
                    <a:pt x="33048" y="266701"/>
                    <a:pt x="38100" y="266700"/>
                  </a:cubicBezTo>
                  <a:lnTo>
                    <a:pt x="57150" y="266700"/>
                  </a:lnTo>
                  <a:lnTo>
                    <a:pt x="57150" y="247650"/>
                  </a:lnTo>
                  <a:cubicBezTo>
                    <a:pt x="57151" y="237992"/>
                    <a:pt x="64380" y="229863"/>
                    <a:pt x="73971" y="228733"/>
                  </a:cubicBezTo>
                  <a:lnTo>
                    <a:pt x="76200" y="228600"/>
                  </a:lnTo>
                  <a:lnTo>
                    <a:pt x="95250" y="228600"/>
                  </a:lnTo>
                  <a:lnTo>
                    <a:pt x="95250" y="209550"/>
                  </a:lnTo>
                  <a:cubicBezTo>
                    <a:pt x="95250" y="205363"/>
                    <a:pt x="96629" y="201292"/>
                    <a:pt x="99174" y="197968"/>
                  </a:cubicBezTo>
                  <a:lnTo>
                    <a:pt x="100832" y="196063"/>
                  </a:lnTo>
                  <a:lnTo>
                    <a:pt x="128797" y="168078"/>
                  </a:lnTo>
                  <a:lnTo>
                    <a:pt x="127349" y="166116"/>
                  </a:lnTo>
                  <a:cubicBezTo>
                    <a:pt x="119743" y="155047"/>
                    <a:pt x="115280" y="142124"/>
                    <a:pt x="114433" y="128721"/>
                  </a:cubicBezTo>
                  <a:lnTo>
                    <a:pt x="114300" y="124225"/>
                  </a:lnTo>
                  <a:cubicBezTo>
                    <a:pt x="114300" y="104623"/>
                    <a:pt x="122091" y="85839"/>
                    <a:pt x="135941" y="71990"/>
                  </a:cubicBezTo>
                  <a:lnTo>
                    <a:pt x="186290" y="21641"/>
                  </a:lnTo>
                  <a:cubicBezTo>
                    <a:pt x="200141" y="7794"/>
                    <a:pt x="218921" y="11"/>
                    <a:pt x="238506" y="0"/>
                  </a:cubicBezTo>
                  <a:moveTo>
                    <a:pt x="247936" y="95250"/>
                  </a:moveTo>
                  <a:lnTo>
                    <a:pt x="247555" y="95250"/>
                  </a:lnTo>
                  <a:cubicBezTo>
                    <a:pt x="233943" y="95250"/>
                    <a:pt x="221365" y="102512"/>
                    <a:pt x="214559" y="114300"/>
                  </a:cubicBezTo>
                  <a:cubicBezTo>
                    <a:pt x="207753" y="126088"/>
                    <a:pt x="207753" y="140612"/>
                    <a:pt x="214559" y="152400"/>
                  </a:cubicBezTo>
                  <a:cubicBezTo>
                    <a:pt x="221365" y="164188"/>
                    <a:pt x="233943" y="171450"/>
                    <a:pt x="247555" y="171450"/>
                  </a:cubicBezTo>
                  <a:lnTo>
                    <a:pt x="247936" y="171450"/>
                  </a:lnTo>
                  <a:cubicBezTo>
                    <a:pt x="268978" y="171450"/>
                    <a:pt x="286036" y="154392"/>
                    <a:pt x="286036" y="133350"/>
                  </a:cubicBezTo>
                  <a:cubicBezTo>
                    <a:pt x="286036" y="112308"/>
                    <a:pt x="268978" y="95250"/>
                    <a:pt x="247936" y="95250"/>
                  </a:cubicBezTo>
                </a:path>
              </a:pathLst>
            </a:custGeom>
            <a:solidFill>
              <a:srgbClr val="0F766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390394" y="1770698"/>
              <a:ext cx="216508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API Key · 你是谁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92680" y="21240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标识调用者，可单独限额、停用和追踪。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007956" y="2013585"/>
              <a:ext cx="11995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用户可见并管理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3400" y="2667000"/>
            <a:ext cx="11125200" cy="838200"/>
            <a:chOff x="533400" y="2667000"/>
            <a:chExt cx="11125200" cy="838200"/>
          </a:xfrm>
        </p:grpSpPr>
        <p:sp>
          <p:nvSpPr>
            <p:cNvPr id="20" name="Rectangle 20"/>
            <p:cNvSpPr/>
            <p:nvPr/>
          </p:nvSpPr>
          <p:spPr>
            <a:xfrm>
              <a:off x="533400" y="2667000"/>
              <a:ext cx="11125200" cy="838200"/>
            </a:xfrm>
            <a:prstGeom prst="roundRect">
              <a:avLst>
                <a:gd name="adj" fmla="val 15909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667000"/>
              <a:ext cx="914400" cy="838200"/>
            </a:xfrm>
            <a:prstGeom prst="roundRect">
              <a:avLst>
                <a:gd name="adj" fmla="val 15909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9707" y="286035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23" name="Freeform 23"/>
            <p:cNvSpPr/>
            <p:nvPr/>
          </p:nvSpPr>
          <p:spPr>
            <a:xfrm>
              <a:off x="1790700" y="2914636"/>
              <a:ext cx="381000" cy="342914"/>
            </a:xfrm>
            <a:custGeom>
              <a:avLst/>
              <a:gdLst/>
              <a:ahLst/>
              <a:cxnLst/>
              <a:rect l="l" t="t" r="r" b="b"/>
              <a:pathLst>
                <a:path w="381000" h="342914">
                  <a:moveTo>
                    <a:pt x="381000" y="38114"/>
                  </a:moveTo>
                  <a:cubicBezTo>
                    <a:pt x="381000" y="48635"/>
                    <a:pt x="372471" y="57164"/>
                    <a:pt x="361950" y="57164"/>
                  </a:cubicBezTo>
                  <a:lnTo>
                    <a:pt x="209550" y="57164"/>
                  </a:lnTo>
                  <a:cubicBezTo>
                    <a:pt x="199029" y="57164"/>
                    <a:pt x="190500" y="48635"/>
                    <a:pt x="190500" y="38114"/>
                  </a:cubicBezTo>
                  <a:cubicBezTo>
                    <a:pt x="190500" y="27593"/>
                    <a:pt x="199029" y="19064"/>
                    <a:pt x="209550" y="19064"/>
                  </a:cubicBezTo>
                  <a:lnTo>
                    <a:pt x="361950" y="19064"/>
                  </a:lnTo>
                  <a:cubicBezTo>
                    <a:pt x="372471" y="19064"/>
                    <a:pt x="381000" y="27593"/>
                    <a:pt x="381000" y="38114"/>
                  </a:cubicBezTo>
                  <a:moveTo>
                    <a:pt x="323850" y="114314"/>
                  </a:moveTo>
                  <a:cubicBezTo>
                    <a:pt x="323850" y="124835"/>
                    <a:pt x="315321" y="133364"/>
                    <a:pt x="304800" y="133364"/>
                  </a:cubicBezTo>
                  <a:lnTo>
                    <a:pt x="209550" y="133364"/>
                  </a:lnTo>
                  <a:cubicBezTo>
                    <a:pt x="199029" y="133364"/>
                    <a:pt x="190500" y="124835"/>
                    <a:pt x="190500" y="114314"/>
                  </a:cubicBezTo>
                  <a:cubicBezTo>
                    <a:pt x="190500" y="103793"/>
                    <a:pt x="199029" y="95264"/>
                    <a:pt x="209550" y="95264"/>
                  </a:cubicBezTo>
                  <a:lnTo>
                    <a:pt x="304800" y="95264"/>
                  </a:lnTo>
                  <a:cubicBezTo>
                    <a:pt x="315321" y="95264"/>
                    <a:pt x="323850" y="103793"/>
                    <a:pt x="323850" y="114314"/>
                  </a:cubicBezTo>
                  <a:moveTo>
                    <a:pt x="381000" y="228614"/>
                  </a:moveTo>
                  <a:cubicBezTo>
                    <a:pt x="381000" y="239135"/>
                    <a:pt x="372471" y="247664"/>
                    <a:pt x="361950" y="247664"/>
                  </a:cubicBezTo>
                  <a:lnTo>
                    <a:pt x="209550" y="247664"/>
                  </a:lnTo>
                  <a:cubicBezTo>
                    <a:pt x="199029" y="247664"/>
                    <a:pt x="190500" y="239135"/>
                    <a:pt x="190500" y="228614"/>
                  </a:cubicBezTo>
                  <a:cubicBezTo>
                    <a:pt x="190500" y="218093"/>
                    <a:pt x="199029" y="209564"/>
                    <a:pt x="209550" y="209564"/>
                  </a:cubicBezTo>
                  <a:lnTo>
                    <a:pt x="361950" y="209564"/>
                  </a:lnTo>
                  <a:cubicBezTo>
                    <a:pt x="372471" y="209564"/>
                    <a:pt x="381000" y="218093"/>
                    <a:pt x="381000" y="228614"/>
                  </a:cubicBezTo>
                  <a:moveTo>
                    <a:pt x="323850" y="304814"/>
                  </a:moveTo>
                  <a:cubicBezTo>
                    <a:pt x="323850" y="315335"/>
                    <a:pt x="315321" y="323864"/>
                    <a:pt x="304800" y="323864"/>
                  </a:cubicBezTo>
                  <a:lnTo>
                    <a:pt x="209550" y="323864"/>
                  </a:lnTo>
                  <a:cubicBezTo>
                    <a:pt x="199029" y="323864"/>
                    <a:pt x="190500" y="315335"/>
                    <a:pt x="190500" y="304814"/>
                  </a:cubicBezTo>
                  <a:cubicBezTo>
                    <a:pt x="190500" y="294293"/>
                    <a:pt x="199029" y="285764"/>
                    <a:pt x="209550" y="285764"/>
                  </a:cubicBezTo>
                  <a:lnTo>
                    <a:pt x="304800" y="285764"/>
                  </a:lnTo>
                  <a:cubicBezTo>
                    <a:pt x="315321" y="285764"/>
                    <a:pt x="323850" y="294293"/>
                    <a:pt x="323850" y="304814"/>
                  </a:cubicBezTo>
                  <a:moveTo>
                    <a:pt x="114300" y="14"/>
                  </a:moveTo>
                  <a:cubicBezTo>
                    <a:pt x="135342" y="14"/>
                    <a:pt x="152400" y="17072"/>
                    <a:pt x="152400" y="38114"/>
                  </a:cubicBezTo>
                  <a:lnTo>
                    <a:pt x="152400" y="114314"/>
                  </a:lnTo>
                  <a:cubicBezTo>
                    <a:pt x="152400" y="135356"/>
                    <a:pt x="135342" y="152414"/>
                    <a:pt x="114300" y="152414"/>
                  </a:cubicBezTo>
                  <a:lnTo>
                    <a:pt x="38100" y="152414"/>
                  </a:lnTo>
                  <a:cubicBezTo>
                    <a:pt x="17058" y="152414"/>
                    <a:pt x="0" y="135356"/>
                    <a:pt x="0" y="114314"/>
                  </a:cubicBezTo>
                  <a:lnTo>
                    <a:pt x="19" y="37143"/>
                  </a:lnTo>
                  <a:lnTo>
                    <a:pt x="95" y="36171"/>
                  </a:lnTo>
                  <a:cubicBezTo>
                    <a:pt x="1091" y="15911"/>
                    <a:pt x="17815" y="0"/>
                    <a:pt x="38100" y="14"/>
                  </a:cubicBezTo>
                  <a:close/>
                  <a:moveTo>
                    <a:pt x="114300" y="190514"/>
                  </a:moveTo>
                  <a:cubicBezTo>
                    <a:pt x="135342" y="190514"/>
                    <a:pt x="152400" y="207572"/>
                    <a:pt x="152400" y="228614"/>
                  </a:cubicBezTo>
                  <a:lnTo>
                    <a:pt x="152400" y="304814"/>
                  </a:lnTo>
                  <a:cubicBezTo>
                    <a:pt x="152400" y="325856"/>
                    <a:pt x="135342" y="342914"/>
                    <a:pt x="114300" y="342914"/>
                  </a:cubicBezTo>
                  <a:lnTo>
                    <a:pt x="38100" y="342914"/>
                  </a:lnTo>
                  <a:cubicBezTo>
                    <a:pt x="17058" y="342914"/>
                    <a:pt x="0" y="325856"/>
                    <a:pt x="0" y="304814"/>
                  </a:cubicBezTo>
                  <a:lnTo>
                    <a:pt x="19" y="227643"/>
                  </a:lnTo>
                  <a:lnTo>
                    <a:pt x="95" y="226671"/>
                  </a:lnTo>
                  <a:cubicBezTo>
                    <a:pt x="1091" y="206411"/>
                    <a:pt x="17815" y="190500"/>
                    <a:pt x="38100" y="190514"/>
                  </a:cubic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390394" y="2818448"/>
              <a:ext cx="254186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分组 · 允许调用什么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92680" y="3171825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包含模型清单、倍率、权限和可用渠道规则。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942347" y="3061335"/>
              <a:ext cx="12651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创建 Key 时选择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33400" y="3714750"/>
            <a:ext cx="11125200" cy="838200"/>
            <a:chOff x="533400" y="3714750"/>
            <a:chExt cx="11125200" cy="838200"/>
          </a:xfrm>
        </p:grpSpPr>
        <p:sp>
          <p:nvSpPr>
            <p:cNvPr id="28" name="Rectangle 28"/>
            <p:cNvSpPr/>
            <p:nvPr/>
          </p:nvSpPr>
          <p:spPr>
            <a:xfrm>
              <a:off x="533400" y="3714750"/>
              <a:ext cx="11125200" cy="838200"/>
            </a:xfrm>
            <a:prstGeom prst="roundRect">
              <a:avLst>
                <a:gd name="adj" fmla="val 15909"/>
              </a:avLst>
            </a:prstGeom>
            <a:solidFill>
              <a:srgbClr val="F4F8FA"/>
            </a:solidFill>
            <a:ln w="19050">
              <a:solidFill>
                <a:srgbClr val="CBD5E1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714750"/>
              <a:ext cx="914400" cy="838200"/>
            </a:xfrm>
            <a:prstGeom prst="roundRect">
              <a:avLst>
                <a:gd name="adj" fmla="val 15909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29707" y="390810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1789391" y="3943845"/>
              <a:ext cx="383592" cy="379991"/>
              <a:chOff x="1789391" y="3943845"/>
              <a:chExt cx="383592" cy="379991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1995126" y="4210050"/>
                <a:ext cx="160668" cy="113786"/>
              </a:xfrm>
              <a:custGeom>
                <a:avLst/>
                <a:gdLst/>
                <a:ahLst/>
                <a:cxnLst/>
                <a:rect l="l" t="t" r="r" b="b"/>
                <a:pathLst>
                  <a:path w="160668" h="113786">
                    <a:moveTo>
                      <a:pt x="160668" y="0"/>
                    </a:moveTo>
                    <a:cubicBezTo>
                      <a:pt x="132381" y="64808"/>
                      <a:pt x="70523" y="108616"/>
                      <a:pt x="0" y="113786"/>
                    </a:cubicBezTo>
                    <a:cubicBezTo>
                      <a:pt x="4879" y="112623"/>
                      <a:pt x="9102" y="109584"/>
                      <a:pt x="11754" y="105327"/>
                    </a:cubicBezTo>
                    <a:cubicBezTo>
                      <a:pt x="32002" y="72892"/>
                      <a:pt x="46683" y="37298"/>
                      <a:pt x="55188" y="19"/>
                    </a:cubicBezTo>
                    <a:close/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1806607" y="4210050"/>
                <a:ext cx="160649" cy="113786"/>
              </a:xfrm>
              <a:custGeom>
                <a:avLst/>
                <a:gdLst/>
                <a:ahLst/>
                <a:cxnLst/>
                <a:rect l="l" t="t" r="r" b="b"/>
                <a:pathLst>
                  <a:path w="160649" h="113786">
                    <a:moveTo>
                      <a:pt x="105480" y="0"/>
                    </a:moveTo>
                    <a:cubicBezTo>
                      <a:pt x="113981" y="37292"/>
                      <a:pt x="128662" y="72899"/>
                      <a:pt x="148914" y="105347"/>
                    </a:cubicBezTo>
                    <a:cubicBezTo>
                      <a:pt x="151565" y="109592"/>
                      <a:pt x="155780" y="112623"/>
                      <a:pt x="160649" y="113786"/>
                    </a:cubicBezTo>
                    <a:cubicBezTo>
                      <a:pt x="90132" y="108609"/>
                      <a:pt x="28284" y="64803"/>
                      <a:pt x="0" y="0"/>
                    </a:cubicBezTo>
                    <a:close/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951291" y="4210050"/>
                <a:ext cx="59817" cy="73990"/>
              </a:xfrm>
              <a:custGeom>
                <a:avLst/>
                <a:gdLst/>
                <a:ahLst/>
                <a:cxnLst/>
                <a:rect l="l" t="t" r="r" b="b"/>
                <a:pathLst>
                  <a:path w="59817" h="73990">
                    <a:moveTo>
                      <a:pt x="59817" y="0"/>
                    </a:moveTo>
                    <a:cubicBezTo>
                      <a:pt x="53133" y="25868"/>
                      <a:pt x="43078" y="50744"/>
                      <a:pt x="29909" y="73990"/>
                    </a:cubicBezTo>
                    <a:cubicBezTo>
                      <a:pt x="16739" y="50744"/>
                      <a:pt x="6684" y="25868"/>
                      <a:pt x="0" y="0"/>
                    </a:cubicBezTo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789391" y="4095750"/>
                <a:ext cx="116257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6257" h="76200">
                    <a:moveTo>
                      <a:pt x="116257" y="0"/>
                    </a:moveTo>
                    <a:cubicBezTo>
                      <a:pt x="113426" y="25321"/>
                      <a:pt x="113426" y="50879"/>
                      <a:pt x="116257" y="76200"/>
                    </a:cubicBezTo>
                    <a:lnTo>
                      <a:pt x="5157" y="76200"/>
                    </a:lnTo>
                    <a:cubicBezTo>
                      <a:pt x="13" y="51062"/>
                      <a:pt x="0" y="25143"/>
                      <a:pt x="5119" y="0"/>
                    </a:cubicBezTo>
                    <a:close/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940827" y="4095750"/>
                <a:ext cx="80746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80746" h="76200">
                    <a:moveTo>
                      <a:pt x="77559" y="0"/>
                    </a:moveTo>
                    <a:cubicBezTo>
                      <a:pt x="80746" y="25300"/>
                      <a:pt x="80746" y="50900"/>
                      <a:pt x="77559" y="76200"/>
                    </a:cubicBezTo>
                    <a:lnTo>
                      <a:pt x="3188" y="76200"/>
                    </a:lnTo>
                    <a:cubicBezTo>
                      <a:pt x="0" y="50900"/>
                      <a:pt x="0" y="25300"/>
                      <a:pt x="3188" y="0"/>
                    </a:cubicBezTo>
                    <a:close/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2056752" y="4095750"/>
                <a:ext cx="116231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16231" h="76200">
                    <a:moveTo>
                      <a:pt x="111138" y="0"/>
                    </a:moveTo>
                    <a:cubicBezTo>
                      <a:pt x="116231" y="25146"/>
                      <a:pt x="116218" y="51059"/>
                      <a:pt x="111100" y="76200"/>
                    </a:cubicBezTo>
                    <a:lnTo>
                      <a:pt x="0" y="76200"/>
                    </a:lnTo>
                    <a:cubicBezTo>
                      <a:pt x="2838" y="50883"/>
                      <a:pt x="2838" y="25337"/>
                      <a:pt x="0" y="0"/>
                    </a:cubicBezTo>
                    <a:close/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806550" y="3943864"/>
                <a:ext cx="160687" cy="113786"/>
              </a:xfrm>
              <a:custGeom>
                <a:avLst/>
                <a:gdLst/>
                <a:ahLst/>
                <a:cxnLst/>
                <a:rect l="l" t="t" r="r" b="b"/>
                <a:pathLst>
                  <a:path w="160687" h="113786">
                    <a:moveTo>
                      <a:pt x="160687" y="0"/>
                    </a:moveTo>
                    <a:cubicBezTo>
                      <a:pt x="155822" y="1171"/>
                      <a:pt x="151614" y="4210"/>
                      <a:pt x="148971" y="8458"/>
                    </a:cubicBezTo>
                    <a:cubicBezTo>
                      <a:pt x="128721" y="40900"/>
                      <a:pt x="114040" y="76500"/>
                      <a:pt x="105537" y="113786"/>
                    </a:cubicBezTo>
                    <a:lnTo>
                      <a:pt x="0" y="113786"/>
                    </a:lnTo>
                    <a:cubicBezTo>
                      <a:pt x="28036" y="49619"/>
                      <a:pt x="88985" y="5981"/>
                      <a:pt x="158763" y="114"/>
                    </a:cubicBezTo>
                    <a:close/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951292" y="3983660"/>
                <a:ext cx="59817" cy="74009"/>
              </a:xfrm>
              <a:custGeom>
                <a:avLst/>
                <a:gdLst/>
                <a:ahLst/>
                <a:cxnLst/>
                <a:rect l="l" t="t" r="r" b="b"/>
                <a:pathLst>
                  <a:path w="59817" h="74009">
                    <a:moveTo>
                      <a:pt x="29908" y="0"/>
                    </a:moveTo>
                    <a:cubicBezTo>
                      <a:pt x="43079" y="23252"/>
                      <a:pt x="53135" y="48135"/>
                      <a:pt x="59817" y="74009"/>
                    </a:cubicBezTo>
                    <a:lnTo>
                      <a:pt x="0" y="74009"/>
                    </a:lnTo>
                    <a:cubicBezTo>
                      <a:pt x="6477" y="48920"/>
                      <a:pt x="16192" y="24479"/>
                      <a:pt x="29146" y="1295"/>
                    </a:cubicBezTo>
                    <a:close/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995164" y="3943845"/>
                <a:ext cx="160687" cy="113805"/>
              </a:xfrm>
              <a:custGeom>
                <a:avLst/>
                <a:gdLst/>
                <a:ahLst/>
                <a:cxnLst/>
                <a:rect l="l" t="t" r="r" b="b"/>
                <a:pathLst>
                  <a:path w="160687" h="113805">
                    <a:moveTo>
                      <a:pt x="0" y="0"/>
                    </a:moveTo>
                    <a:cubicBezTo>
                      <a:pt x="70520" y="5208"/>
                      <a:pt x="132368" y="49011"/>
                      <a:pt x="160687" y="113805"/>
                    </a:cubicBezTo>
                    <a:lnTo>
                      <a:pt x="55150" y="113805"/>
                    </a:lnTo>
                    <a:cubicBezTo>
                      <a:pt x="46649" y="76513"/>
                      <a:pt x="31968" y="40906"/>
                      <a:pt x="11716" y="8458"/>
                    </a:cubicBezTo>
                    <a:cubicBezTo>
                      <a:pt x="9424" y="4787"/>
                      <a:pt x="5950" y="2005"/>
                      <a:pt x="1867" y="572"/>
                    </a:cubicBezTo>
                    <a:close/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2390394" y="3866198"/>
              <a:ext cx="254186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渠道 · 请求发到哪里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392680" y="421957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定义平台、路由优先级、监控与失败切换。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177577" y="4109085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D97706"/>
                  </a:solidFill>
                  <a:latin typeface="Arial"/>
                  <a:ea typeface="Microsoft YaHei"/>
                  <a:cs typeface="Arial"/>
                </a:rPr>
                <a:t>用户只看状态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33400" y="4762500"/>
            <a:ext cx="11125200" cy="838200"/>
            <a:chOff x="533400" y="4762500"/>
            <a:chExt cx="11125200" cy="838200"/>
          </a:xfrm>
        </p:grpSpPr>
        <p:sp>
          <p:nvSpPr>
            <p:cNvPr id="45" name="Rectangle 45"/>
            <p:cNvSpPr/>
            <p:nvPr/>
          </p:nvSpPr>
          <p:spPr>
            <a:xfrm>
              <a:off x="533400" y="4762500"/>
              <a:ext cx="11125200" cy="838200"/>
            </a:xfrm>
            <a:prstGeom prst="roundRect">
              <a:avLst>
                <a:gd name="adj" fmla="val 15909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533400" y="4762500"/>
              <a:ext cx="914400" cy="838200"/>
            </a:xfrm>
            <a:prstGeom prst="roundRect">
              <a:avLst>
                <a:gd name="adj" fmla="val 15909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29707" y="4955858"/>
              <a:ext cx="52178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1847850" y="4991100"/>
              <a:ext cx="266700" cy="381000"/>
              <a:chOff x="1847850" y="4991100"/>
              <a:chExt cx="266700" cy="3810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1885950" y="49911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cubicBezTo>
                      <a:pt x="147855" y="0"/>
                      <a:pt x="190500" y="42645"/>
                      <a:pt x="190500" y="95250"/>
                    </a:cubicBezTo>
                    <a:cubicBezTo>
                      <a:pt x="190500" y="147855"/>
                      <a:pt x="147855" y="190500"/>
                      <a:pt x="95250" y="190500"/>
                    </a:cubicBezTo>
                    <a:cubicBezTo>
                      <a:pt x="42645" y="190500"/>
                      <a:pt x="0" y="147855"/>
                      <a:pt x="0" y="95250"/>
                    </a:cubicBezTo>
                    <a:lnTo>
                      <a:pt x="95" y="91116"/>
                    </a:lnTo>
                    <a:cubicBezTo>
                      <a:pt x="2308" y="40169"/>
                      <a:pt x="44255" y="3"/>
                      <a:pt x="95250" y="0"/>
                    </a:cubicBezTo>
                    <a:close/>
                  </a:path>
                </a:pathLst>
              </a:custGeom>
              <a:solidFill>
                <a:srgbClr val="E11D48"/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847850" y="5219700"/>
                <a:ext cx="2667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2400">
                    <a:moveTo>
                      <a:pt x="171450" y="0"/>
                    </a:moveTo>
                    <a:cubicBezTo>
                      <a:pt x="224055" y="0"/>
                      <a:pt x="266700" y="42645"/>
                      <a:pt x="266700" y="95250"/>
                    </a:cubicBezTo>
                    <a:lnTo>
                      <a:pt x="266700" y="114300"/>
                    </a:lnTo>
                    <a:cubicBezTo>
                      <a:pt x="266700" y="135342"/>
                      <a:pt x="249642" y="152400"/>
                      <a:pt x="228600" y="152400"/>
                    </a:cubicBezTo>
                    <a:lnTo>
                      <a:pt x="38100" y="152400"/>
                    </a:lnTo>
                    <a:cubicBezTo>
                      <a:pt x="17058" y="152400"/>
                      <a:pt x="0" y="135342"/>
                      <a:pt x="0" y="11430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lnTo>
                      <a:pt x="171450" y="0"/>
                    </a:lnTo>
                    <a:close/>
                  </a:path>
                </a:pathLst>
              </a:custGeom>
              <a:solidFill>
                <a:srgbClr val="E11D48"/>
              </a:solidFill>
              <a:ln>
                <a:noFill/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2390394" y="4913948"/>
              <a:ext cx="309313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上游账号 · 最终由谁发出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392680" y="526732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实际凭证、额度、并发、冷却和模型权限都在这里。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177577" y="5156835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b="1" dirty="0">
                  <a:solidFill>
                    <a:srgbClr val="E11D48"/>
                  </a:solidFill>
                  <a:latin typeface="Arial"/>
                  <a:ea typeface="Microsoft YaHei"/>
                  <a:cs typeface="Arial"/>
                </a:rPr>
                <a:t>仅管理员管理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33400" y="5829300"/>
            <a:ext cx="11125200" cy="495300"/>
            <a:chOff x="533400" y="5829300"/>
            <a:chExt cx="11125200" cy="495300"/>
          </a:xfrm>
        </p:grpSpPr>
        <p:sp>
          <p:nvSpPr>
            <p:cNvPr id="55" name="Rectangle 55"/>
            <p:cNvSpPr/>
            <p:nvPr/>
          </p:nvSpPr>
          <p:spPr>
            <a:xfrm>
              <a:off x="533400" y="5829300"/>
              <a:ext cx="11125200" cy="495300"/>
            </a:xfrm>
            <a:prstGeom prst="roundRect">
              <a:avLst>
                <a:gd name="adj" fmla="val 26923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563439" y="5991225"/>
              <a:ext cx="70651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渠道显示正常，不等于其中一定存在可调度账号；这正是许多 503 的来源。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28066" y="6497002"/>
            <a:ext cx="11135868" cy="205359"/>
            <a:chOff x="528066" y="6497002"/>
            <a:chExt cx="11135868" cy="205359"/>
          </a:xfrm>
        </p:grpSpPr>
        <p:sp>
          <p:nvSpPr>
            <p:cNvPr id="58" name="TextBox 58"/>
            <p:cNvSpPr txBox="1"/>
            <p:nvPr/>
          </p:nvSpPr>
          <p:spPr>
            <a:xfrm>
              <a:off x="528066" y="649700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四层职责模型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497780" y="64970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18160" y="304800"/>
            <a:ext cx="6513050" cy="862584"/>
            <a:chOff x="518160" y="304800"/>
            <a:chExt cx="6513050" cy="862584"/>
          </a:xfrm>
        </p:grpSpPr>
        <p:sp>
          <p:nvSpPr>
            <p:cNvPr id="5" name="TextBox 5"/>
            <p:cNvSpPr txBox="1"/>
            <p:nvPr/>
          </p:nvSpPr>
          <p:spPr>
            <a:xfrm>
              <a:off x="518160" y="304800"/>
              <a:ext cx="554316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用这三个字段发出第一条请求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4256" y="815340"/>
              <a:ext cx="650695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Base URL、Authorization 和 model/messages 缺一不可。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1466850"/>
            <a:ext cx="5619750" cy="4438650"/>
            <a:chOff x="533400" y="1466850"/>
            <a:chExt cx="5619750" cy="4438650"/>
          </a:xfrm>
        </p:grpSpPr>
        <p:sp>
          <p:nvSpPr>
            <p:cNvPr id="8" name="Rectangle 8"/>
            <p:cNvSpPr/>
            <p:nvPr/>
          </p:nvSpPr>
          <p:spPr>
            <a:xfrm>
              <a:off x="533400" y="1466850"/>
              <a:ext cx="5619750" cy="4438650"/>
            </a:xfrm>
            <a:prstGeom prst="roundRect">
              <a:avLst>
                <a:gd name="adj" fmla="val 3004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466850"/>
              <a:ext cx="5619750" cy="438150"/>
            </a:xfrm>
            <a:prstGeom prst="roundRect">
              <a:avLst>
                <a:gd name="adj" fmla="val 30435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33400" y="1752600"/>
              <a:ext cx="5619750" cy="15240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765174" y="1569822"/>
              <a:ext cx="233995" cy="234908"/>
            </a:xfrm>
            <a:custGeom>
              <a:avLst/>
              <a:gdLst/>
              <a:ahLst/>
              <a:cxnLst/>
              <a:rect l="l" t="t" r="r" b="b"/>
              <a:pathLst>
                <a:path w="233995" h="234908">
                  <a:moveTo>
                    <a:pt x="166689" y="19869"/>
                  </a:moveTo>
                  <a:cubicBezTo>
                    <a:pt x="213393" y="46833"/>
                    <a:pt x="233995" y="103438"/>
                    <a:pt x="215550" y="154114"/>
                  </a:cubicBezTo>
                  <a:cubicBezTo>
                    <a:pt x="197105" y="204790"/>
                    <a:pt x="144937" y="234908"/>
                    <a:pt x="91828" y="225543"/>
                  </a:cubicBezTo>
                  <a:cubicBezTo>
                    <a:pt x="38719" y="216177"/>
                    <a:pt x="0" y="170032"/>
                    <a:pt x="1" y="116103"/>
                  </a:cubicBezTo>
                  <a:lnTo>
                    <a:pt x="57" y="112503"/>
                  </a:lnTo>
                  <a:cubicBezTo>
                    <a:pt x="1323" y="73464"/>
                    <a:pt x="22991" y="37956"/>
                    <a:pt x="57130" y="18978"/>
                  </a:cubicBezTo>
                  <a:cubicBezTo>
                    <a:pt x="91268" y="0"/>
                    <a:pt x="132864" y="338"/>
                    <a:pt x="166689" y="19869"/>
                  </a:cubicBezTo>
                  <a:moveTo>
                    <a:pt x="96758" y="86021"/>
                  </a:moveTo>
                  <a:cubicBezTo>
                    <a:pt x="92419" y="81683"/>
                    <a:pt x="85385" y="81683"/>
                    <a:pt x="81045" y="86021"/>
                  </a:cubicBezTo>
                  <a:lnTo>
                    <a:pt x="58820" y="108246"/>
                  </a:lnTo>
                  <a:cubicBezTo>
                    <a:pt x="54482" y="112586"/>
                    <a:pt x="54482" y="119620"/>
                    <a:pt x="58820" y="123960"/>
                  </a:cubicBezTo>
                  <a:lnTo>
                    <a:pt x="81045" y="146185"/>
                  </a:lnTo>
                  <a:cubicBezTo>
                    <a:pt x="85385" y="150523"/>
                    <a:pt x="92419" y="150523"/>
                    <a:pt x="96758" y="146185"/>
                  </a:cubicBezTo>
                  <a:lnTo>
                    <a:pt x="97681" y="145140"/>
                  </a:lnTo>
                  <a:cubicBezTo>
                    <a:pt x="101112" y="140716"/>
                    <a:pt x="100717" y="134431"/>
                    <a:pt x="96758" y="130472"/>
                  </a:cubicBezTo>
                  <a:lnTo>
                    <a:pt x="82401" y="116103"/>
                  </a:lnTo>
                  <a:lnTo>
                    <a:pt x="96758" y="101735"/>
                  </a:lnTo>
                  <a:cubicBezTo>
                    <a:pt x="101096" y="97395"/>
                    <a:pt x="101096" y="90361"/>
                    <a:pt x="96758" y="86021"/>
                  </a:cubicBezTo>
                  <a:moveTo>
                    <a:pt x="141208" y="86021"/>
                  </a:moveTo>
                  <a:cubicBezTo>
                    <a:pt x="136869" y="81683"/>
                    <a:pt x="129835" y="81683"/>
                    <a:pt x="125495" y="86021"/>
                  </a:cubicBezTo>
                  <a:lnTo>
                    <a:pt x="124573" y="87066"/>
                  </a:lnTo>
                  <a:cubicBezTo>
                    <a:pt x="121141" y="91490"/>
                    <a:pt x="121537" y="97776"/>
                    <a:pt x="125495" y="101735"/>
                  </a:cubicBezTo>
                  <a:lnTo>
                    <a:pt x="139853" y="116103"/>
                  </a:lnTo>
                  <a:lnTo>
                    <a:pt x="125495" y="130472"/>
                  </a:lnTo>
                  <a:cubicBezTo>
                    <a:pt x="121284" y="134832"/>
                    <a:pt x="121344" y="141763"/>
                    <a:pt x="125631" y="146049"/>
                  </a:cubicBezTo>
                  <a:cubicBezTo>
                    <a:pt x="129917" y="150336"/>
                    <a:pt x="136848" y="150396"/>
                    <a:pt x="141208" y="146185"/>
                  </a:cubicBezTo>
                  <a:lnTo>
                    <a:pt x="163433" y="123960"/>
                  </a:lnTo>
                  <a:cubicBezTo>
                    <a:pt x="167772" y="119620"/>
                    <a:pt x="167772" y="112586"/>
                    <a:pt x="163433" y="10824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136142" y="1616392"/>
              <a:ext cx="17502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curl · 最小聊天请求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4192" y="2102168"/>
              <a:ext cx="4925758" cy="285483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curl https://synthapi.ecobim.club/v1/chat/completions \ </a:t>
              </a:r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-H "Authorization: Bearer sk-替换成你的密钥" \ </a:t>
              </a:r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-H "Content-Type: application/json" \ </a:t>
              </a:r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-d '{ </a:t>
              </a:r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"model": "gpt-5.5", </a:t>
              </a:r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"messages": [ </a:t>
              </a:r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{"role":"user","content":"只回复：连接成功"} </a:t>
              </a:r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] </a:t>
              </a:r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}'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4954" y="5452110"/>
              <a:ext cx="37895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示例不包含真实 Key；模型名以你的分组配置为准。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467600" y="1927860"/>
            <a:ext cx="2797721" cy="1748790"/>
            <a:chOff x="7467600" y="1927860"/>
            <a:chExt cx="2797721" cy="1748790"/>
          </a:xfrm>
        </p:grpSpPr>
        <p:sp>
          <p:nvSpPr>
            <p:cNvPr id="16" name="Line 16"/>
            <p:cNvSpPr/>
            <p:nvPr/>
          </p:nvSpPr>
          <p:spPr>
            <a:xfrm>
              <a:off x="7467600" y="2762250"/>
              <a:ext cx="1200150" cy="1"/>
            </a:xfrm>
            <a:prstGeom prst="line">
              <a:avLst/>
            </a:prstGeom>
            <a:noFill/>
            <a:ln w="28575">
              <a:solidFill>
                <a:srgbClr val="2563EB"/>
              </a:solidFill>
              <a:tailEnd type="triangle" w="lg" len="lg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62956" y="1927860"/>
              <a:ext cx="1419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鉴权 + JSON 请求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9696450" y="3371850"/>
              <a:ext cx="1" cy="266700"/>
            </a:xfrm>
            <a:prstGeom prst="line">
              <a:avLst/>
            </a:prstGeom>
            <a:noFill/>
            <a:ln w="28575">
              <a:solidFill>
                <a:srgbClr val="2563EB"/>
              </a:solidFill>
              <a:tailEnd type="triangle" w="lg" len="lg"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957816" y="346805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563EB"/>
                  </a:solidFill>
                  <a:latin typeface="Arial"/>
                  <a:ea typeface="Microsoft YaHei"/>
                  <a:cs typeface="Arial"/>
                </a:rPr>
                <a:t>转发</a:t>
              </a:r>
            </a:p>
          </p:txBody>
        </p:sp>
        <p:sp>
          <p:nvSpPr>
            <p:cNvPr id="20" name="Line 20"/>
            <p:cNvSpPr/>
            <p:nvPr/>
          </p:nvSpPr>
          <p:spPr>
            <a:xfrm flipV="1">
              <a:off x="9239250" y="3409950"/>
              <a:ext cx="1" cy="266700"/>
            </a:xfrm>
            <a:prstGeom prst="line">
              <a:avLst/>
            </a:prstGeom>
            <a:noFill/>
            <a:ln w="28575">
              <a:solidFill>
                <a:srgbClr val="059669"/>
              </a:solidFill>
              <a:tailEnd type="triangle" w="lg" len="lg"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757666" y="3468052"/>
              <a:ext cx="3075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59669"/>
                  </a:solidFill>
                  <a:latin typeface="Arial"/>
                  <a:ea typeface="Microsoft YaHei"/>
                  <a:cs typeface="Arial"/>
                </a:rPr>
                <a:t>返回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591300" y="2152650"/>
            <a:ext cx="1886902" cy="1219200"/>
            <a:chOff x="6591300" y="2152650"/>
            <a:chExt cx="1886902" cy="1219200"/>
          </a:xfrm>
        </p:grpSpPr>
        <p:sp>
          <p:nvSpPr>
            <p:cNvPr id="23" name="Rectangle 23"/>
            <p:cNvSpPr/>
            <p:nvPr/>
          </p:nvSpPr>
          <p:spPr>
            <a:xfrm>
              <a:off x="6591300" y="2152650"/>
              <a:ext cx="1847850" cy="1219200"/>
            </a:xfrm>
            <a:prstGeom prst="roundRect">
              <a:avLst>
                <a:gd name="adj" fmla="val 10938"/>
              </a:avLst>
            </a:prstGeom>
            <a:solidFill>
              <a:srgbClr val="F4F8FA"/>
            </a:solidFill>
            <a:ln w="19050">
              <a:solidFill>
                <a:srgbClr val="CBD5E1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6892923" y="2427403"/>
              <a:ext cx="367705" cy="369140"/>
            </a:xfrm>
            <a:custGeom>
              <a:avLst/>
              <a:gdLst/>
              <a:ahLst/>
              <a:cxnLst/>
              <a:rect l="l" t="t" r="r" b="b"/>
              <a:pathLst>
                <a:path w="367705" h="369140">
                  <a:moveTo>
                    <a:pt x="261939" y="31222"/>
                  </a:moveTo>
                  <a:cubicBezTo>
                    <a:pt x="335330" y="73594"/>
                    <a:pt x="367705" y="162544"/>
                    <a:pt x="338720" y="242178"/>
                  </a:cubicBezTo>
                  <a:cubicBezTo>
                    <a:pt x="309735" y="321812"/>
                    <a:pt x="227758" y="369140"/>
                    <a:pt x="144301" y="354422"/>
                  </a:cubicBezTo>
                  <a:cubicBezTo>
                    <a:pt x="60844" y="339705"/>
                    <a:pt x="0" y="267192"/>
                    <a:pt x="2" y="182447"/>
                  </a:cubicBezTo>
                  <a:lnTo>
                    <a:pt x="89" y="176789"/>
                  </a:lnTo>
                  <a:cubicBezTo>
                    <a:pt x="2079" y="115443"/>
                    <a:pt x="36129" y="59646"/>
                    <a:pt x="89775" y="29823"/>
                  </a:cubicBezTo>
                  <a:cubicBezTo>
                    <a:pt x="143421" y="0"/>
                    <a:pt x="208785" y="531"/>
                    <a:pt x="261939" y="31222"/>
                  </a:cubicBezTo>
                  <a:moveTo>
                    <a:pt x="152048" y="135176"/>
                  </a:moveTo>
                  <a:cubicBezTo>
                    <a:pt x="145229" y="128359"/>
                    <a:pt x="134175" y="128359"/>
                    <a:pt x="127356" y="135176"/>
                  </a:cubicBezTo>
                  <a:lnTo>
                    <a:pt x="92431" y="170101"/>
                  </a:lnTo>
                  <a:cubicBezTo>
                    <a:pt x="85614" y="176920"/>
                    <a:pt x="85614" y="187974"/>
                    <a:pt x="92431" y="194793"/>
                  </a:cubicBezTo>
                  <a:lnTo>
                    <a:pt x="127356" y="229718"/>
                  </a:lnTo>
                  <a:cubicBezTo>
                    <a:pt x="134175" y="236535"/>
                    <a:pt x="145229" y="236535"/>
                    <a:pt x="152048" y="229718"/>
                  </a:cubicBezTo>
                  <a:lnTo>
                    <a:pt x="153497" y="228076"/>
                  </a:lnTo>
                  <a:cubicBezTo>
                    <a:pt x="158890" y="221125"/>
                    <a:pt x="158269" y="211247"/>
                    <a:pt x="152048" y="205026"/>
                  </a:cubicBezTo>
                  <a:lnTo>
                    <a:pt x="129486" y="182447"/>
                  </a:lnTo>
                  <a:lnTo>
                    <a:pt x="152048" y="159868"/>
                  </a:lnTo>
                  <a:cubicBezTo>
                    <a:pt x="158865" y="153049"/>
                    <a:pt x="158865" y="141995"/>
                    <a:pt x="152048" y="135176"/>
                  </a:cubicBezTo>
                  <a:moveTo>
                    <a:pt x="221898" y="135176"/>
                  </a:moveTo>
                  <a:cubicBezTo>
                    <a:pt x="215079" y="128359"/>
                    <a:pt x="204025" y="128359"/>
                    <a:pt x="197206" y="135176"/>
                  </a:cubicBezTo>
                  <a:lnTo>
                    <a:pt x="195756" y="136817"/>
                  </a:lnTo>
                  <a:cubicBezTo>
                    <a:pt x="190364" y="143769"/>
                    <a:pt x="190985" y="153647"/>
                    <a:pt x="197206" y="159868"/>
                  </a:cubicBezTo>
                  <a:lnTo>
                    <a:pt x="219767" y="182447"/>
                  </a:lnTo>
                  <a:lnTo>
                    <a:pt x="197206" y="205026"/>
                  </a:lnTo>
                  <a:cubicBezTo>
                    <a:pt x="190588" y="211878"/>
                    <a:pt x="190683" y="222769"/>
                    <a:pt x="197419" y="229505"/>
                  </a:cubicBezTo>
                  <a:cubicBezTo>
                    <a:pt x="204154" y="236241"/>
                    <a:pt x="215046" y="236335"/>
                    <a:pt x="221898" y="229718"/>
                  </a:cubicBezTo>
                  <a:lnTo>
                    <a:pt x="256823" y="194793"/>
                  </a:lnTo>
                  <a:cubicBezTo>
                    <a:pt x="263640" y="187974"/>
                    <a:pt x="263640" y="176920"/>
                    <a:pt x="256823" y="170101"/>
                  </a:cubic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402830" y="24288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你的客户端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51904" y="2956560"/>
              <a:ext cx="13193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curl / SDK / 应用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705850" y="2152650"/>
            <a:ext cx="1847850" cy="1219200"/>
            <a:chOff x="8705850" y="2152650"/>
            <a:chExt cx="1847850" cy="1219200"/>
          </a:xfrm>
        </p:grpSpPr>
        <p:sp>
          <p:nvSpPr>
            <p:cNvPr id="28" name="Rectangle 28"/>
            <p:cNvSpPr/>
            <p:nvPr/>
          </p:nvSpPr>
          <p:spPr>
            <a:xfrm>
              <a:off x="8705850" y="2152650"/>
              <a:ext cx="1847850" cy="1219200"/>
            </a:xfrm>
            <a:prstGeom prst="roundRect">
              <a:avLst>
                <a:gd name="adj" fmla="val 10938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8999568" y="2435225"/>
              <a:ext cx="365046" cy="349436"/>
            </a:xfrm>
            <a:custGeom>
              <a:avLst/>
              <a:gdLst/>
              <a:ahLst/>
              <a:cxnLst/>
              <a:rect l="l" t="t" r="r" b="b"/>
              <a:pathLst>
                <a:path w="365046" h="349436">
                  <a:moveTo>
                    <a:pt x="182497" y="0"/>
                  </a:moveTo>
                  <a:lnTo>
                    <a:pt x="184557" y="122"/>
                  </a:lnTo>
                  <a:lnTo>
                    <a:pt x="185588" y="262"/>
                  </a:lnTo>
                  <a:lnTo>
                    <a:pt x="186653" y="489"/>
                  </a:lnTo>
                  <a:lnTo>
                    <a:pt x="188591" y="1083"/>
                  </a:lnTo>
                  <a:cubicBezTo>
                    <a:pt x="189930" y="1576"/>
                    <a:pt x="191203" y="2233"/>
                    <a:pt x="192380" y="3038"/>
                  </a:cubicBezTo>
                  <a:lnTo>
                    <a:pt x="194197" y="4470"/>
                  </a:lnTo>
                  <a:lnTo>
                    <a:pt x="198649" y="8277"/>
                  </a:lnTo>
                  <a:cubicBezTo>
                    <a:pt x="233877" y="37537"/>
                    <a:pt x="278398" y="53248"/>
                    <a:pt x="324187" y="52579"/>
                  </a:cubicBezTo>
                  <a:lnTo>
                    <a:pt x="330159" y="52405"/>
                  </a:lnTo>
                  <a:cubicBezTo>
                    <a:pt x="338195" y="52038"/>
                    <a:pt x="345441" y="57208"/>
                    <a:pt x="347709" y="64925"/>
                  </a:cubicBezTo>
                  <a:cubicBezTo>
                    <a:pt x="365046" y="123901"/>
                    <a:pt x="357725" y="187386"/>
                    <a:pt x="327420" y="240868"/>
                  </a:cubicBezTo>
                  <a:cubicBezTo>
                    <a:pt x="297115" y="294350"/>
                    <a:pt x="246416" y="333255"/>
                    <a:pt x="186915" y="348691"/>
                  </a:cubicBezTo>
                  <a:cubicBezTo>
                    <a:pt x="184040" y="349436"/>
                    <a:pt x="181023" y="349436"/>
                    <a:pt x="178149" y="348691"/>
                  </a:cubicBezTo>
                  <a:cubicBezTo>
                    <a:pt x="118644" y="333259"/>
                    <a:pt x="67941" y="294355"/>
                    <a:pt x="37632" y="240873"/>
                  </a:cubicBezTo>
                  <a:cubicBezTo>
                    <a:pt x="7323" y="187391"/>
                    <a:pt x="0" y="123903"/>
                    <a:pt x="17337" y="64925"/>
                  </a:cubicBezTo>
                  <a:cubicBezTo>
                    <a:pt x="19605" y="57208"/>
                    <a:pt x="26851" y="52038"/>
                    <a:pt x="34886" y="52405"/>
                  </a:cubicBezTo>
                  <a:cubicBezTo>
                    <a:pt x="82689" y="54590"/>
                    <a:pt x="129587" y="38854"/>
                    <a:pt x="166396" y="8277"/>
                  </a:cubicBezTo>
                  <a:lnTo>
                    <a:pt x="170989" y="4348"/>
                  </a:lnTo>
                  <a:lnTo>
                    <a:pt x="172665" y="3038"/>
                  </a:lnTo>
                  <a:cubicBezTo>
                    <a:pt x="173843" y="2233"/>
                    <a:pt x="175116" y="1576"/>
                    <a:pt x="176455" y="1083"/>
                  </a:cubicBezTo>
                  <a:lnTo>
                    <a:pt x="178410" y="489"/>
                  </a:lnTo>
                  <a:cubicBezTo>
                    <a:pt x="179095" y="324"/>
                    <a:pt x="179789" y="201"/>
                    <a:pt x="180488" y="122"/>
                  </a:cubicBezTo>
                  <a:lnTo>
                    <a:pt x="182497" y="0"/>
                  </a:lnTo>
                  <a:close/>
                  <a:moveTo>
                    <a:pt x="247282" y="127354"/>
                  </a:moveTo>
                  <a:cubicBezTo>
                    <a:pt x="244007" y="124075"/>
                    <a:pt x="239562" y="122232"/>
                    <a:pt x="234928" y="122232"/>
                  </a:cubicBezTo>
                  <a:cubicBezTo>
                    <a:pt x="230293" y="122232"/>
                    <a:pt x="225848" y="124075"/>
                    <a:pt x="222573" y="127354"/>
                  </a:cubicBezTo>
                  <a:lnTo>
                    <a:pt x="165069" y="184840"/>
                  </a:lnTo>
                  <a:lnTo>
                    <a:pt x="142490" y="162279"/>
                  </a:lnTo>
                  <a:lnTo>
                    <a:pt x="140849" y="160829"/>
                  </a:lnTo>
                  <a:cubicBezTo>
                    <a:pt x="133565" y="155197"/>
                    <a:pt x="123159" y="156188"/>
                    <a:pt x="117069" y="163095"/>
                  </a:cubicBezTo>
                  <a:cubicBezTo>
                    <a:pt x="110979" y="170001"/>
                    <a:pt x="111299" y="180449"/>
                    <a:pt x="117798" y="186971"/>
                  </a:cubicBezTo>
                  <a:lnTo>
                    <a:pt x="152723" y="221896"/>
                  </a:lnTo>
                  <a:lnTo>
                    <a:pt x="154365" y="223345"/>
                  </a:lnTo>
                  <a:cubicBezTo>
                    <a:pt x="161316" y="228737"/>
                    <a:pt x="171194" y="228116"/>
                    <a:pt x="177415" y="221896"/>
                  </a:cubicBezTo>
                  <a:lnTo>
                    <a:pt x="247265" y="152046"/>
                  </a:lnTo>
                  <a:lnTo>
                    <a:pt x="248714" y="150404"/>
                  </a:lnTo>
                  <a:cubicBezTo>
                    <a:pt x="254107" y="143453"/>
                    <a:pt x="253486" y="133575"/>
                    <a:pt x="247265" y="12735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517380" y="2428875"/>
              <a:ext cx="9200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SynthAPI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66454" y="29565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校验、计费、选路由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705850" y="3676650"/>
            <a:ext cx="1847850" cy="1219200"/>
            <a:chOff x="8705850" y="3676650"/>
            <a:chExt cx="1847850" cy="1219200"/>
          </a:xfrm>
        </p:grpSpPr>
        <p:sp>
          <p:nvSpPr>
            <p:cNvPr id="33" name="Rectangle 33"/>
            <p:cNvSpPr/>
            <p:nvPr/>
          </p:nvSpPr>
          <p:spPr>
            <a:xfrm>
              <a:off x="8705850" y="3676650"/>
              <a:ext cx="1847850" cy="1219200"/>
            </a:xfrm>
            <a:prstGeom prst="roundRect">
              <a:avLst>
                <a:gd name="adj" fmla="val 10938"/>
              </a:avLst>
            </a:prstGeom>
            <a:solidFill>
              <a:srgbClr val="F4F8FA"/>
            </a:solidFill>
            <a:ln w="19050">
              <a:solidFill>
                <a:srgbClr val="CBD5E1"/>
              </a:solidFill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9006275" y="3959679"/>
              <a:ext cx="351626" cy="348323"/>
              <a:chOff x="9006275" y="3959679"/>
              <a:chExt cx="351626" cy="34832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9194865" y="4203699"/>
                <a:ext cx="147278" cy="104303"/>
              </a:xfrm>
              <a:custGeom>
                <a:avLst/>
                <a:gdLst/>
                <a:ahLst/>
                <a:cxnLst/>
                <a:rect l="l" t="t" r="r" b="b"/>
                <a:pathLst>
                  <a:path w="147278" h="104303">
                    <a:moveTo>
                      <a:pt x="147278" y="0"/>
                    </a:moveTo>
                    <a:cubicBezTo>
                      <a:pt x="121349" y="59408"/>
                      <a:pt x="64646" y="99565"/>
                      <a:pt x="0" y="104303"/>
                    </a:cubicBezTo>
                    <a:cubicBezTo>
                      <a:pt x="4472" y="103238"/>
                      <a:pt x="8343" y="100452"/>
                      <a:pt x="10774" y="96550"/>
                    </a:cubicBezTo>
                    <a:cubicBezTo>
                      <a:pt x="29335" y="66817"/>
                      <a:pt x="42792" y="34190"/>
                      <a:pt x="50589" y="17"/>
                    </a:cubicBezTo>
                    <a:close/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022056" y="4203699"/>
                <a:ext cx="147261" cy="104303"/>
              </a:xfrm>
              <a:custGeom>
                <a:avLst/>
                <a:gdLst/>
                <a:ahLst/>
                <a:cxnLst/>
                <a:rect l="l" t="t" r="r" b="b"/>
                <a:pathLst>
                  <a:path w="147261" h="104303">
                    <a:moveTo>
                      <a:pt x="96690" y="0"/>
                    </a:moveTo>
                    <a:cubicBezTo>
                      <a:pt x="104482" y="34184"/>
                      <a:pt x="117940" y="66824"/>
                      <a:pt x="136504" y="96567"/>
                    </a:cubicBezTo>
                    <a:cubicBezTo>
                      <a:pt x="138934" y="100459"/>
                      <a:pt x="142798" y="103238"/>
                      <a:pt x="147261" y="104303"/>
                    </a:cubicBezTo>
                    <a:cubicBezTo>
                      <a:pt x="82621" y="99558"/>
                      <a:pt x="25927" y="59402"/>
                      <a:pt x="0" y="0"/>
                    </a:cubicBezTo>
                    <a:close/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9154684" y="4203699"/>
                <a:ext cx="54832" cy="67824"/>
              </a:xfrm>
              <a:custGeom>
                <a:avLst/>
                <a:gdLst/>
                <a:ahLst/>
                <a:cxnLst/>
                <a:rect l="l" t="t" r="r" b="b"/>
                <a:pathLst>
                  <a:path w="54832" h="67824">
                    <a:moveTo>
                      <a:pt x="54832" y="0"/>
                    </a:moveTo>
                    <a:cubicBezTo>
                      <a:pt x="48706" y="23712"/>
                      <a:pt x="39488" y="46515"/>
                      <a:pt x="27416" y="67824"/>
                    </a:cubicBezTo>
                    <a:cubicBezTo>
                      <a:pt x="15344" y="46515"/>
                      <a:pt x="6127" y="23712"/>
                      <a:pt x="0" y="0"/>
                    </a:cubicBezTo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9006275" y="4098925"/>
                <a:ext cx="106569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6569" h="69850">
                    <a:moveTo>
                      <a:pt x="106569" y="0"/>
                    </a:moveTo>
                    <a:cubicBezTo>
                      <a:pt x="103974" y="23211"/>
                      <a:pt x="103974" y="46639"/>
                      <a:pt x="106569" y="69850"/>
                    </a:cubicBezTo>
                    <a:lnTo>
                      <a:pt x="4728" y="69850"/>
                    </a:lnTo>
                    <a:cubicBezTo>
                      <a:pt x="12" y="46807"/>
                      <a:pt x="0" y="23048"/>
                      <a:pt x="4693" y="0"/>
                    </a:cubicBezTo>
                    <a:close/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9145091" y="4098925"/>
                <a:ext cx="74017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74017" h="69850">
                    <a:moveTo>
                      <a:pt x="71095" y="0"/>
                    </a:moveTo>
                    <a:cubicBezTo>
                      <a:pt x="74017" y="23192"/>
                      <a:pt x="74017" y="46658"/>
                      <a:pt x="71095" y="69850"/>
                    </a:cubicBezTo>
                    <a:lnTo>
                      <a:pt x="2922" y="69850"/>
                    </a:lnTo>
                    <a:cubicBezTo>
                      <a:pt x="0" y="46658"/>
                      <a:pt x="0" y="23192"/>
                      <a:pt x="2922" y="0"/>
                    </a:cubicBezTo>
                    <a:close/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9251356" y="4098925"/>
                <a:ext cx="10654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106545" h="69850">
                    <a:moveTo>
                      <a:pt x="101876" y="0"/>
                    </a:moveTo>
                    <a:cubicBezTo>
                      <a:pt x="106545" y="23050"/>
                      <a:pt x="106533" y="46804"/>
                      <a:pt x="101841" y="69850"/>
                    </a:cubicBezTo>
                    <a:lnTo>
                      <a:pt x="0" y="69850"/>
                    </a:lnTo>
                    <a:cubicBezTo>
                      <a:pt x="2602" y="46642"/>
                      <a:pt x="2602" y="23225"/>
                      <a:pt x="0" y="0"/>
                    </a:cubicBezTo>
                    <a:close/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9022004" y="3959696"/>
                <a:ext cx="147296" cy="104303"/>
              </a:xfrm>
              <a:custGeom>
                <a:avLst/>
                <a:gdLst/>
                <a:ahLst/>
                <a:cxnLst/>
                <a:rect l="l" t="t" r="r" b="b"/>
                <a:pathLst>
                  <a:path w="147296" h="104303">
                    <a:moveTo>
                      <a:pt x="147296" y="0"/>
                    </a:moveTo>
                    <a:cubicBezTo>
                      <a:pt x="142837" y="1074"/>
                      <a:pt x="138979" y="3859"/>
                      <a:pt x="136557" y="7753"/>
                    </a:cubicBezTo>
                    <a:cubicBezTo>
                      <a:pt x="117994" y="37491"/>
                      <a:pt x="104537" y="70125"/>
                      <a:pt x="96742" y="104303"/>
                    </a:cubicBezTo>
                    <a:lnTo>
                      <a:pt x="0" y="104303"/>
                    </a:lnTo>
                    <a:cubicBezTo>
                      <a:pt x="25700" y="45484"/>
                      <a:pt x="81570" y="5483"/>
                      <a:pt x="145532" y="105"/>
                    </a:cubicBezTo>
                    <a:close/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154684" y="3996176"/>
                <a:ext cx="54832" cy="67842"/>
              </a:xfrm>
              <a:custGeom>
                <a:avLst/>
                <a:gdLst/>
                <a:ahLst/>
                <a:cxnLst/>
                <a:rect l="l" t="t" r="r" b="b"/>
                <a:pathLst>
                  <a:path w="54832" h="67842">
                    <a:moveTo>
                      <a:pt x="27416" y="0"/>
                    </a:moveTo>
                    <a:cubicBezTo>
                      <a:pt x="39489" y="21314"/>
                      <a:pt x="48707" y="44124"/>
                      <a:pt x="54832" y="67842"/>
                    </a:cubicBezTo>
                    <a:lnTo>
                      <a:pt x="0" y="67842"/>
                    </a:lnTo>
                    <a:cubicBezTo>
                      <a:pt x="5937" y="44844"/>
                      <a:pt x="14843" y="22439"/>
                      <a:pt x="26718" y="1187"/>
                    </a:cubicBezTo>
                    <a:close/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194900" y="3959679"/>
                <a:ext cx="147296" cy="104321"/>
              </a:xfrm>
              <a:custGeom>
                <a:avLst/>
                <a:gdLst/>
                <a:ahLst/>
                <a:cxnLst/>
                <a:rect l="l" t="t" r="r" b="b"/>
                <a:pathLst>
                  <a:path w="147296" h="104321">
                    <a:moveTo>
                      <a:pt x="0" y="0"/>
                    </a:moveTo>
                    <a:cubicBezTo>
                      <a:pt x="64643" y="4774"/>
                      <a:pt x="121337" y="44927"/>
                      <a:pt x="147296" y="104321"/>
                    </a:cubicBezTo>
                    <a:lnTo>
                      <a:pt x="50554" y="104321"/>
                    </a:lnTo>
                    <a:cubicBezTo>
                      <a:pt x="42761" y="70136"/>
                      <a:pt x="29304" y="37497"/>
                      <a:pt x="10739" y="7753"/>
                    </a:cubicBezTo>
                    <a:cubicBezTo>
                      <a:pt x="8639" y="4388"/>
                      <a:pt x="5455" y="1838"/>
                      <a:pt x="1711" y="524"/>
                    </a:cubicBezTo>
                    <a:close/>
                  </a:path>
                </a:pathLst>
              </a:custGeom>
              <a:solidFill>
                <a:srgbClr val="D97706"/>
              </a:solidFill>
              <a:ln>
                <a:noFill/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9517380" y="39528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上游模型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966454" y="44805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生成真实响应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6591300" y="5105400"/>
            <a:ext cx="5067300" cy="800100"/>
            <a:chOff x="6591300" y="5105400"/>
            <a:chExt cx="5067300" cy="800100"/>
          </a:xfrm>
        </p:grpSpPr>
        <p:sp>
          <p:nvSpPr>
            <p:cNvPr id="47" name="Rectangle 47"/>
            <p:cNvSpPr/>
            <p:nvPr/>
          </p:nvSpPr>
          <p:spPr>
            <a:xfrm>
              <a:off x="6591300" y="5105400"/>
              <a:ext cx="5067300" cy="800100"/>
            </a:xfrm>
            <a:prstGeom prst="roundRect">
              <a:avLst>
                <a:gd name="adj" fmla="val 16667"/>
              </a:avLst>
            </a:prstGeom>
            <a:solidFill>
              <a:srgbClr val="F4F8F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50380" y="52482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发送前再核对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852285" y="5593556"/>
              <a:ext cx="11527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1 Base URL 路径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414385" y="5593556"/>
              <a:ext cx="9974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2 Bearer 空格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919335" y="5593556"/>
              <a:ext cx="8973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3 model 一致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28066" y="6382702"/>
            <a:ext cx="11135868" cy="205359"/>
            <a:chOff x="528066" y="6382702"/>
            <a:chExt cx="11135868" cy="205359"/>
          </a:xfrm>
        </p:grpSpPr>
        <p:sp>
          <p:nvSpPr>
            <p:cNvPr id="53" name="TextBox 53"/>
            <p:cNvSpPr txBox="1"/>
            <p:nvPr/>
          </p:nvSpPr>
          <p:spPr>
            <a:xfrm>
              <a:off x="528066" y="6382702"/>
              <a:ext cx="33537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兼容 OpenAI 的最小示例 · 接口路径以在线指南为准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497780" y="63827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209550" cy="685800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651510" y="400050"/>
            <a:ext cx="5355336" cy="881634"/>
            <a:chOff x="651510" y="400050"/>
            <a:chExt cx="5355336" cy="881634"/>
          </a:xfrm>
        </p:grpSpPr>
        <p:sp>
          <p:nvSpPr>
            <p:cNvPr id="5" name="TextBox 5"/>
            <p:cNvSpPr txBox="1"/>
            <p:nvPr/>
          </p:nvSpPr>
          <p:spPr>
            <a:xfrm>
              <a:off x="651510" y="400050"/>
              <a:ext cx="427101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如何确认请求真的成功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7606" y="92964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不要只看页面没有报错，要同时核对响应与记录。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47700" y="2274570"/>
            <a:ext cx="5010150" cy="2276475"/>
            <a:chOff x="647700" y="2274570"/>
            <a:chExt cx="5010150" cy="2276475"/>
          </a:xfrm>
        </p:grpSpPr>
        <p:sp>
          <p:nvSpPr>
            <p:cNvPr id="8" name="TextBox 8"/>
            <p:cNvSpPr txBox="1"/>
            <p:nvPr/>
          </p:nvSpPr>
          <p:spPr>
            <a:xfrm>
              <a:off x="647700" y="2274570"/>
              <a:ext cx="3385078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5400" b="1" dirty="0">
                  <a:solidFill>
                    <a:srgbClr val="059669"/>
                  </a:solidFill>
                  <a:latin typeface="Arial"/>
                  <a:ea typeface="Arial"/>
                  <a:cs typeface="Arial"/>
                </a:rPr>
                <a:t>HTTP 200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56082" y="3107055"/>
              <a:ext cx="32865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这是开始，不是全部证据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666750" y="3638550"/>
              <a:ext cx="4991100" cy="9525"/>
            </a:xfrm>
            <a:custGeom>
              <a:avLst/>
              <a:gdLst/>
              <a:ahLst/>
              <a:cxnLst/>
              <a:rect l="l" t="t" r="r" b="b"/>
              <a:pathLst>
                <a:path w="4991100" h="9525">
                  <a:moveTo>
                    <a:pt x="0" y="0"/>
                  </a:moveTo>
                  <a:lnTo>
                    <a:pt x="4991100" y="0"/>
                  </a:lnTo>
                </a:path>
              </a:pathLst>
            </a:custGeom>
            <a:noFill/>
            <a:ln w="28575">
              <a:solidFill>
                <a:srgbClr val="CBD5E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59130" y="3933825"/>
              <a:ext cx="4149090" cy="617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响应体应是有效 JSON，并且包含模型返回内容。</a:t>
              </a:r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同时保留请求 ID，随后到用量页核对对应记录。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572250" y="1619250"/>
            <a:ext cx="5086350" cy="3223451"/>
            <a:chOff x="6572250" y="1619250"/>
            <a:chExt cx="5086350" cy="3223451"/>
          </a:xfrm>
        </p:grpSpPr>
        <p:sp>
          <p:nvSpPr>
            <p:cNvPr id="13" name="Rectangle 13"/>
            <p:cNvSpPr/>
            <p:nvPr/>
          </p:nvSpPr>
          <p:spPr>
            <a:xfrm>
              <a:off x="6572250" y="1619250"/>
              <a:ext cx="5086350" cy="2971800"/>
            </a:xfrm>
            <a:prstGeom prst="roundRect">
              <a:avLst>
                <a:gd name="adj" fmla="val 4487"/>
              </a:avLst>
            </a:prstGeom>
            <a:solidFill>
              <a:srgbClr val="0F172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870192" y="191166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94A3B8"/>
                  </a:solidFill>
                  <a:latin typeface="Consolas"/>
                  <a:ea typeface="Consolas"/>
                  <a:cs typeface="Consolas"/>
                </a:rPr>
                <a:t>HTTP/1.1 200 OK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870192" y="2311718"/>
              <a:ext cx="1882521" cy="25309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{ </a:t>
              </a:r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"id": "req_已省略", </a:t>
              </a:r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"choices": [{ </a:t>
              </a:r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"message": { </a:t>
              </a:r>
              <a:r>
                <a:rPr lang="zh-CN" sz="1350" dirty="0">
                  <a:solidFill>
                    <a:srgbClr val="FFFFFF"/>
                  </a:solidFill>
                  <a:latin typeface="Consolas"/>
                  <a:ea typeface="Microsoft YaHei"/>
                  <a:cs typeface="Consolas"/>
                </a:rPr>
                <a:t xml:space="preserve">"content": "连接成功" </a:t>
              </a:r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} </a:t>
              </a:r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 xml:space="preserve">}] </a:t>
              </a:r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23900" y="5105400"/>
            <a:ext cx="9237726" cy="457200"/>
            <a:chOff x="723900" y="5105400"/>
            <a:chExt cx="9237726" cy="457200"/>
          </a:xfrm>
        </p:grpSpPr>
        <p:sp>
          <p:nvSpPr>
            <p:cNvPr id="17" name="Ellipse 17"/>
            <p:cNvSpPr/>
            <p:nvPr/>
          </p:nvSpPr>
          <p:spPr>
            <a:xfrm>
              <a:off x="723900" y="5105400"/>
              <a:ext cx="457200" cy="457200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18" name="Freeform 18"/>
            <p:cNvSpPr/>
            <p:nvPr/>
          </p:nvSpPr>
          <p:spPr>
            <a:xfrm>
              <a:off x="809625" y="5184725"/>
              <a:ext cx="300466" cy="300958"/>
            </a:xfrm>
            <a:custGeom>
              <a:avLst/>
              <a:gdLst/>
              <a:ahLst/>
              <a:cxnLst/>
              <a:rect l="l" t="t" r="r" b="b"/>
              <a:pathLst>
                <a:path w="300466" h="300958">
                  <a:moveTo>
                    <a:pt x="214312" y="25545"/>
                  </a:moveTo>
                  <a:cubicBezTo>
                    <a:pt x="273854" y="59924"/>
                    <a:pt x="300466" y="131835"/>
                    <a:pt x="277649" y="196693"/>
                  </a:cubicBezTo>
                  <a:cubicBezTo>
                    <a:pt x="254832" y="261550"/>
                    <a:pt x="189056" y="300958"/>
                    <a:pt x="121104" y="290484"/>
                  </a:cubicBezTo>
                  <a:cubicBezTo>
                    <a:pt x="53153" y="280009"/>
                    <a:pt x="2298" y="222622"/>
                    <a:pt x="71" y="153904"/>
                  </a:cubicBezTo>
                  <a:lnTo>
                    <a:pt x="0" y="149275"/>
                  </a:lnTo>
                  <a:lnTo>
                    <a:pt x="71" y="144646"/>
                  </a:lnTo>
                  <a:cubicBezTo>
                    <a:pt x="1699" y="94454"/>
                    <a:pt x="29558" y="48801"/>
                    <a:pt x="73450" y="24400"/>
                  </a:cubicBezTo>
                  <a:cubicBezTo>
                    <a:pt x="117343" y="0"/>
                    <a:pt x="170823" y="435"/>
                    <a:pt x="214312" y="25545"/>
                  </a:cubicBezTo>
                  <a:close/>
                  <a:moveTo>
                    <a:pt x="195839" y="110599"/>
                  </a:moveTo>
                  <a:cubicBezTo>
                    <a:pt x="190749" y="105509"/>
                    <a:pt x="182667" y="105001"/>
                    <a:pt x="176979" y="109413"/>
                  </a:cubicBezTo>
                  <a:lnTo>
                    <a:pt x="175636" y="110599"/>
                  </a:lnTo>
                  <a:lnTo>
                    <a:pt x="128588" y="157633"/>
                  </a:lnTo>
                  <a:lnTo>
                    <a:pt x="110114" y="139174"/>
                  </a:lnTo>
                  <a:lnTo>
                    <a:pt x="108771" y="137988"/>
                  </a:lnTo>
                  <a:cubicBezTo>
                    <a:pt x="103083" y="133579"/>
                    <a:pt x="95004" y="134089"/>
                    <a:pt x="89915" y="139177"/>
                  </a:cubicBezTo>
                  <a:cubicBezTo>
                    <a:pt x="84826" y="144266"/>
                    <a:pt x="84317" y="152345"/>
                    <a:pt x="88725" y="158033"/>
                  </a:cubicBezTo>
                  <a:lnTo>
                    <a:pt x="89911" y="159376"/>
                  </a:lnTo>
                  <a:lnTo>
                    <a:pt x="118486" y="187951"/>
                  </a:lnTo>
                  <a:lnTo>
                    <a:pt x="119829" y="189137"/>
                  </a:lnTo>
                  <a:cubicBezTo>
                    <a:pt x="124983" y="193136"/>
                    <a:pt x="132192" y="193136"/>
                    <a:pt x="137346" y="189137"/>
                  </a:cubicBezTo>
                  <a:lnTo>
                    <a:pt x="138689" y="187951"/>
                  </a:lnTo>
                  <a:lnTo>
                    <a:pt x="195839" y="130801"/>
                  </a:lnTo>
                  <a:lnTo>
                    <a:pt x="197025" y="129458"/>
                  </a:lnTo>
                  <a:cubicBezTo>
                    <a:pt x="201437" y="123771"/>
                    <a:pt x="200928" y="115689"/>
                    <a:pt x="195839" y="1105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344930" y="52482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响应内容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2628900" y="5334000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28575">
              <a:solidFill>
                <a:srgbClr val="CBD5E1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3352800" y="5105400"/>
              <a:ext cx="457200" cy="457200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3438525" y="5184725"/>
              <a:ext cx="300466" cy="300958"/>
            </a:xfrm>
            <a:custGeom>
              <a:avLst/>
              <a:gdLst/>
              <a:ahLst/>
              <a:cxnLst/>
              <a:rect l="l" t="t" r="r" b="b"/>
              <a:pathLst>
                <a:path w="300466" h="300958">
                  <a:moveTo>
                    <a:pt x="214312" y="25545"/>
                  </a:moveTo>
                  <a:cubicBezTo>
                    <a:pt x="273854" y="59924"/>
                    <a:pt x="300466" y="131835"/>
                    <a:pt x="277649" y="196693"/>
                  </a:cubicBezTo>
                  <a:cubicBezTo>
                    <a:pt x="254832" y="261550"/>
                    <a:pt x="189056" y="300958"/>
                    <a:pt x="121104" y="290484"/>
                  </a:cubicBezTo>
                  <a:cubicBezTo>
                    <a:pt x="53153" y="280009"/>
                    <a:pt x="2298" y="222622"/>
                    <a:pt x="71" y="153904"/>
                  </a:cubicBezTo>
                  <a:lnTo>
                    <a:pt x="0" y="149275"/>
                  </a:lnTo>
                  <a:lnTo>
                    <a:pt x="71" y="144646"/>
                  </a:lnTo>
                  <a:cubicBezTo>
                    <a:pt x="1699" y="94454"/>
                    <a:pt x="29558" y="48801"/>
                    <a:pt x="73450" y="24400"/>
                  </a:cubicBezTo>
                  <a:cubicBezTo>
                    <a:pt x="117343" y="0"/>
                    <a:pt x="170823" y="435"/>
                    <a:pt x="214312" y="25545"/>
                  </a:cubicBezTo>
                  <a:close/>
                  <a:moveTo>
                    <a:pt x="195839" y="110599"/>
                  </a:moveTo>
                  <a:cubicBezTo>
                    <a:pt x="190749" y="105509"/>
                    <a:pt x="182667" y="105001"/>
                    <a:pt x="176979" y="109413"/>
                  </a:cubicBezTo>
                  <a:lnTo>
                    <a:pt x="175636" y="110599"/>
                  </a:lnTo>
                  <a:lnTo>
                    <a:pt x="128588" y="157633"/>
                  </a:lnTo>
                  <a:lnTo>
                    <a:pt x="110114" y="139174"/>
                  </a:lnTo>
                  <a:lnTo>
                    <a:pt x="108771" y="137988"/>
                  </a:lnTo>
                  <a:cubicBezTo>
                    <a:pt x="103083" y="133579"/>
                    <a:pt x="95004" y="134089"/>
                    <a:pt x="89915" y="139177"/>
                  </a:cubicBezTo>
                  <a:cubicBezTo>
                    <a:pt x="84826" y="144266"/>
                    <a:pt x="84317" y="152345"/>
                    <a:pt x="88725" y="158033"/>
                  </a:cubicBezTo>
                  <a:lnTo>
                    <a:pt x="89911" y="159376"/>
                  </a:lnTo>
                  <a:lnTo>
                    <a:pt x="118486" y="187951"/>
                  </a:lnTo>
                  <a:lnTo>
                    <a:pt x="119829" y="189137"/>
                  </a:lnTo>
                  <a:cubicBezTo>
                    <a:pt x="124983" y="193136"/>
                    <a:pt x="132192" y="193136"/>
                    <a:pt x="137346" y="189137"/>
                  </a:cubicBezTo>
                  <a:lnTo>
                    <a:pt x="138689" y="187951"/>
                  </a:lnTo>
                  <a:lnTo>
                    <a:pt x="195839" y="130801"/>
                  </a:lnTo>
                  <a:lnTo>
                    <a:pt x="197025" y="129458"/>
                  </a:lnTo>
                  <a:cubicBezTo>
                    <a:pt x="201437" y="123771"/>
                    <a:pt x="200928" y="115689"/>
                    <a:pt x="195839" y="1105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973830" y="5248275"/>
              <a:ext cx="7209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请求 ID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5105400" y="5334000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28575">
              <a:solidFill>
                <a:srgbClr val="CBD5E1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5829300" y="5105400"/>
              <a:ext cx="457200" cy="457200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26" name="Freeform 26"/>
            <p:cNvSpPr/>
            <p:nvPr/>
          </p:nvSpPr>
          <p:spPr>
            <a:xfrm>
              <a:off x="5915025" y="5184725"/>
              <a:ext cx="300466" cy="300958"/>
            </a:xfrm>
            <a:custGeom>
              <a:avLst/>
              <a:gdLst/>
              <a:ahLst/>
              <a:cxnLst/>
              <a:rect l="l" t="t" r="r" b="b"/>
              <a:pathLst>
                <a:path w="300466" h="300958">
                  <a:moveTo>
                    <a:pt x="214312" y="25545"/>
                  </a:moveTo>
                  <a:cubicBezTo>
                    <a:pt x="273854" y="59924"/>
                    <a:pt x="300466" y="131835"/>
                    <a:pt x="277649" y="196693"/>
                  </a:cubicBezTo>
                  <a:cubicBezTo>
                    <a:pt x="254832" y="261550"/>
                    <a:pt x="189056" y="300958"/>
                    <a:pt x="121104" y="290484"/>
                  </a:cubicBezTo>
                  <a:cubicBezTo>
                    <a:pt x="53153" y="280009"/>
                    <a:pt x="2298" y="222622"/>
                    <a:pt x="71" y="153904"/>
                  </a:cubicBezTo>
                  <a:lnTo>
                    <a:pt x="0" y="149275"/>
                  </a:lnTo>
                  <a:lnTo>
                    <a:pt x="71" y="144646"/>
                  </a:lnTo>
                  <a:cubicBezTo>
                    <a:pt x="1699" y="94454"/>
                    <a:pt x="29558" y="48801"/>
                    <a:pt x="73450" y="24400"/>
                  </a:cubicBezTo>
                  <a:cubicBezTo>
                    <a:pt x="117343" y="0"/>
                    <a:pt x="170823" y="435"/>
                    <a:pt x="214312" y="25545"/>
                  </a:cubicBezTo>
                  <a:close/>
                  <a:moveTo>
                    <a:pt x="195839" y="110599"/>
                  </a:moveTo>
                  <a:cubicBezTo>
                    <a:pt x="190749" y="105509"/>
                    <a:pt x="182667" y="105001"/>
                    <a:pt x="176979" y="109413"/>
                  </a:cubicBezTo>
                  <a:lnTo>
                    <a:pt x="175636" y="110599"/>
                  </a:lnTo>
                  <a:lnTo>
                    <a:pt x="128588" y="157633"/>
                  </a:lnTo>
                  <a:lnTo>
                    <a:pt x="110114" y="139174"/>
                  </a:lnTo>
                  <a:lnTo>
                    <a:pt x="108771" y="137988"/>
                  </a:lnTo>
                  <a:cubicBezTo>
                    <a:pt x="103083" y="133579"/>
                    <a:pt x="95004" y="134089"/>
                    <a:pt x="89915" y="139177"/>
                  </a:cubicBezTo>
                  <a:cubicBezTo>
                    <a:pt x="84826" y="144266"/>
                    <a:pt x="84317" y="152345"/>
                    <a:pt x="88725" y="158033"/>
                  </a:cubicBezTo>
                  <a:lnTo>
                    <a:pt x="89911" y="159376"/>
                  </a:lnTo>
                  <a:lnTo>
                    <a:pt x="118486" y="187951"/>
                  </a:lnTo>
                  <a:lnTo>
                    <a:pt x="119829" y="189137"/>
                  </a:lnTo>
                  <a:cubicBezTo>
                    <a:pt x="124983" y="193136"/>
                    <a:pt x="132192" y="193136"/>
                    <a:pt x="137346" y="189137"/>
                  </a:cubicBezTo>
                  <a:lnTo>
                    <a:pt x="138689" y="187951"/>
                  </a:lnTo>
                  <a:lnTo>
                    <a:pt x="195839" y="130801"/>
                  </a:lnTo>
                  <a:lnTo>
                    <a:pt x="197025" y="129458"/>
                  </a:lnTo>
                  <a:cubicBezTo>
                    <a:pt x="201437" y="123771"/>
                    <a:pt x="200928" y="115689"/>
                    <a:pt x="195839" y="1105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50330" y="52482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用量记录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7753350" y="5334000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28575">
              <a:solidFill>
                <a:srgbClr val="CBD5E1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8477250" y="5105400"/>
              <a:ext cx="457200" cy="457200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8562975" y="5184725"/>
              <a:ext cx="300466" cy="300958"/>
            </a:xfrm>
            <a:custGeom>
              <a:avLst/>
              <a:gdLst/>
              <a:ahLst/>
              <a:cxnLst/>
              <a:rect l="l" t="t" r="r" b="b"/>
              <a:pathLst>
                <a:path w="300466" h="300958">
                  <a:moveTo>
                    <a:pt x="214312" y="25545"/>
                  </a:moveTo>
                  <a:cubicBezTo>
                    <a:pt x="273854" y="59924"/>
                    <a:pt x="300466" y="131835"/>
                    <a:pt x="277649" y="196693"/>
                  </a:cubicBezTo>
                  <a:cubicBezTo>
                    <a:pt x="254832" y="261550"/>
                    <a:pt x="189056" y="300958"/>
                    <a:pt x="121104" y="290484"/>
                  </a:cubicBezTo>
                  <a:cubicBezTo>
                    <a:pt x="53153" y="280009"/>
                    <a:pt x="2298" y="222622"/>
                    <a:pt x="71" y="153904"/>
                  </a:cubicBezTo>
                  <a:lnTo>
                    <a:pt x="0" y="149275"/>
                  </a:lnTo>
                  <a:lnTo>
                    <a:pt x="71" y="144646"/>
                  </a:lnTo>
                  <a:cubicBezTo>
                    <a:pt x="1699" y="94454"/>
                    <a:pt x="29558" y="48801"/>
                    <a:pt x="73450" y="24400"/>
                  </a:cubicBezTo>
                  <a:cubicBezTo>
                    <a:pt x="117343" y="0"/>
                    <a:pt x="170823" y="435"/>
                    <a:pt x="214312" y="25545"/>
                  </a:cubicBezTo>
                  <a:close/>
                  <a:moveTo>
                    <a:pt x="195839" y="110599"/>
                  </a:moveTo>
                  <a:cubicBezTo>
                    <a:pt x="190749" y="105509"/>
                    <a:pt x="182667" y="105001"/>
                    <a:pt x="176979" y="109413"/>
                  </a:cubicBezTo>
                  <a:lnTo>
                    <a:pt x="175636" y="110599"/>
                  </a:lnTo>
                  <a:lnTo>
                    <a:pt x="128588" y="157633"/>
                  </a:lnTo>
                  <a:lnTo>
                    <a:pt x="110114" y="139174"/>
                  </a:lnTo>
                  <a:lnTo>
                    <a:pt x="108771" y="137988"/>
                  </a:lnTo>
                  <a:cubicBezTo>
                    <a:pt x="103083" y="133579"/>
                    <a:pt x="95004" y="134089"/>
                    <a:pt x="89915" y="139177"/>
                  </a:cubicBezTo>
                  <a:cubicBezTo>
                    <a:pt x="84826" y="144266"/>
                    <a:pt x="84317" y="152345"/>
                    <a:pt x="88725" y="158033"/>
                  </a:cubicBezTo>
                  <a:lnTo>
                    <a:pt x="89911" y="159376"/>
                  </a:lnTo>
                  <a:lnTo>
                    <a:pt x="118486" y="187951"/>
                  </a:lnTo>
                  <a:lnTo>
                    <a:pt x="119829" y="189137"/>
                  </a:lnTo>
                  <a:cubicBezTo>
                    <a:pt x="124983" y="193136"/>
                    <a:pt x="132192" y="193136"/>
                    <a:pt x="137346" y="189137"/>
                  </a:cubicBezTo>
                  <a:lnTo>
                    <a:pt x="138689" y="187951"/>
                  </a:lnTo>
                  <a:lnTo>
                    <a:pt x="195839" y="130801"/>
                  </a:lnTo>
                  <a:lnTo>
                    <a:pt x="197025" y="129458"/>
                  </a:lnTo>
                  <a:cubicBezTo>
                    <a:pt x="201437" y="123771"/>
                    <a:pt x="200928" y="115689"/>
                    <a:pt x="195839" y="11059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098280" y="52482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费用核对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60654" y="5928360"/>
            <a:ext cx="5624779" cy="234696"/>
            <a:chOff x="660654" y="5928360"/>
            <a:chExt cx="5624779" cy="234696"/>
          </a:xfrm>
        </p:grpSpPr>
        <p:sp>
          <p:nvSpPr>
            <p:cNvPr id="33" name="TextBox 33"/>
            <p:cNvSpPr txBox="1"/>
            <p:nvPr/>
          </p:nvSpPr>
          <p:spPr>
            <a:xfrm>
              <a:off x="660654" y="5928360"/>
              <a:ext cx="56247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401：Key 问题 · 403：权限/分组 · 404：路径/模型 · 503：可用账号或上游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61416" y="6439852"/>
            <a:ext cx="11002518" cy="205359"/>
            <a:chOff x="661416" y="6439852"/>
            <a:chExt cx="11002518" cy="205359"/>
          </a:xfrm>
        </p:grpSpPr>
        <p:sp>
          <p:nvSpPr>
            <p:cNvPr id="35" name="TextBox 35"/>
            <p:cNvSpPr txBox="1"/>
            <p:nvPr/>
          </p:nvSpPr>
          <p:spPr>
            <a:xfrm>
              <a:off x="661416" y="64398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成功判定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497780" y="64398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18160" y="304800"/>
            <a:ext cx="8087487" cy="862584"/>
            <a:chOff x="518160" y="304800"/>
            <a:chExt cx="8087487" cy="862584"/>
          </a:xfrm>
        </p:grpSpPr>
        <p:sp>
          <p:nvSpPr>
            <p:cNvPr id="5" name="TextBox 5"/>
            <p:cNvSpPr txBox="1"/>
            <p:nvPr/>
          </p:nvSpPr>
          <p:spPr>
            <a:xfrm>
              <a:off x="518160" y="304800"/>
              <a:ext cx="808748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图片和视频是长任务，不要按聊天接口等待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4256" y="815340"/>
              <a:ext cx="44092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保存任务 ID，轮询状态，再下载结果。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3400" y="1428750"/>
            <a:ext cx="7236714" cy="609600"/>
            <a:chOff x="533400" y="1428750"/>
            <a:chExt cx="7236714" cy="609600"/>
          </a:xfrm>
        </p:grpSpPr>
        <p:sp>
          <p:nvSpPr>
            <p:cNvPr id="8" name="Rectangle 8"/>
            <p:cNvSpPr/>
            <p:nvPr/>
          </p:nvSpPr>
          <p:spPr>
            <a:xfrm>
              <a:off x="533400" y="1428750"/>
              <a:ext cx="1619250" cy="609600"/>
            </a:xfrm>
            <a:prstGeom prst="roundRect">
              <a:avLst>
                <a:gd name="adj" fmla="val 21875"/>
              </a:avLst>
            </a:prstGeom>
            <a:solidFill>
              <a:srgbClr val="F4F8FA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752475" y="159067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97341" y="137331"/>
                  </a:moveTo>
                  <a:cubicBezTo>
                    <a:pt x="103870" y="131902"/>
                    <a:pt x="110457" y="131902"/>
                    <a:pt x="117143" y="137489"/>
                  </a:cubicBezTo>
                  <a:lnTo>
                    <a:pt x="118686" y="138889"/>
                  </a:lnTo>
                  <a:lnTo>
                    <a:pt x="189924" y="210126"/>
                  </a:lnTo>
                  <a:lnTo>
                    <a:pt x="191267" y="211312"/>
                  </a:lnTo>
                  <a:cubicBezTo>
                    <a:pt x="196955" y="215721"/>
                    <a:pt x="205034" y="215211"/>
                    <a:pt x="210123" y="210123"/>
                  </a:cubicBezTo>
                  <a:cubicBezTo>
                    <a:pt x="215211" y="205034"/>
                    <a:pt x="215721" y="196955"/>
                    <a:pt x="211312" y="191267"/>
                  </a:cubicBezTo>
                  <a:lnTo>
                    <a:pt x="210126" y="189924"/>
                  </a:lnTo>
                  <a:lnTo>
                    <a:pt x="191667" y="171450"/>
                  </a:lnTo>
                  <a:lnTo>
                    <a:pt x="195839" y="167264"/>
                  </a:lnTo>
                  <a:lnTo>
                    <a:pt x="197353" y="165906"/>
                  </a:lnTo>
                  <a:cubicBezTo>
                    <a:pt x="203883" y="160477"/>
                    <a:pt x="210469" y="160477"/>
                    <a:pt x="217156" y="166064"/>
                  </a:cubicBezTo>
                  <a:lnTo>
                    <a:pt x="218699" y="167464"/>
                  </a:lnTo>
                  <a:lnTo>
                    <a:pt x="285479" y="234258"/>
                  </a:lnTo>
                  <a:cubicBezTo>
                    <a:pt x="282683" y="262374"/>
                    <a:pt x="259761" y="284228"/>
                    <a:pt x="231543" y="285679"/>
                  </a:cubicBezTo>
                  <a:lnTo>
                    <a:pt x="228600" y="285750"/>
                  </a:lnTo>
                  <a:lnTo>
                    <a:pt x="57150" y="285750"/>
                  </a:lnTo>
                  <a:cubicBezTo>
                    <a:pt x="27785" y="285748"/>
                    <a:pt x="3200" y="263492"/>
                    <a:pt x="286" y="234272"/>
                  </a:cubicBezTo>
                  <a:lnTo>
                    <a:pt x="95826" y="138689"/>
                  </a:lnTo>
                  <a:lnTo>
                    <a:pt x="97341" y="137331"/>
                  </a:lnTo>
                  <a:close/>
                  <a:moveTo>
                    <a:pt x="228600" y="0"/>
                  </a:moveTo>
                  <a:cubicBezTo>
                    <a:pt x="259052" y="0"/>
                    <a:pt x="284156" y="23878"/>
                    <a:pt x="285679" y="54293"/>
                  </a:cubicBezTo>
                  <a:lnTo>
                    <a:pt x="285750" y="57150"/>
                  </a:lnTo>
                  <a:lnTo>
                    <a:pt x="285750" y="194096"/>
                  </a:lnTo>
                  <a:lnTo>
                    <a:pt x="238701" y="147061"/>
                  </a:lnTo>
                  <a:lnTo>
                    <a:pt x="236558" y="145104"/>
                  </a:lnTo>
                  <a:cubicBezTo>
                    <a:pt x="218613" y="129459"/>
                    <a:pt x="195839" y="129430"/>
                    <a:pt x="178037" y="144861"/>
                  </a:cubicBezTo>
                  <a:lnTo>
                    <a:pt x="175836" y="146861"/>
                  </a:lnTo>
                  <a:lnTo>
                    <a:pt x="171450" y="151233"/>
                  </a:lnTo>
                  <a:lnTo>
                    <a:pt x="138689" y="118486"/>
                  </a:lnTo>
                  <a:lnTo>
                    <a:pt x="136546" y="116529"/>
                  </a:lnTo>
                  <a:cubicBezTo>
                    <a:pt x="118601" y="100884"/>
                    <a:pt x="95826" y="100855"/>
                    <a:pt x="78024" y="116286"/>
                  </a:cubicBezTo>
                  <a:lnTo>
                    <a:pt x="75824" y="118286"/>
                  </a:lnTo>
                  <a:lnTo>
                    <a:pt x="0" y="194096"/>
                  </a:lnTo>
                  <a:lnTo>
                    <a:pt x="0" y="57150"/>
                  </a:lnTo>
                  <a:cubicBezTo>
                    <a:pt x="0" y="26698"/>
                    <a:pt x="23878" y="1594"/>
                    <a:pt x="54293" y="71"/>
                  </a:cubicBezTo>
                  <a:lnTo>
                    <a:pt x="57150" y="0"/>
                  </a:lnTo>
                  <a:lnTo>
                    <a:pt x="228600" y="0"/>
                  </a:lnTo>
                  <a:close/>
                  <a:moveTo>
                    <a:pt x="185880" y="71438"/>
                  </a:moveTo>
                  <a:lnTo>
                    <a:pt x="184066" y="71538"/>
                  </a:lnTo>
                  <a:cubicBezTo>
                    <a:pt x="176879" y="72392"/>
                    <a:pt x="171466" y="78487"/>
                    <a:pt x="171466" y="85725"/>
                  </a:cubicBezTo>
                  <a:cubicBezTo>
                    <a:pt x="171466" y="92963"/>
                    <a:pt x="176879" y="99058"/>
                    <a:pt x="184066" y="99913"/>
                  </a:cubicBezTo>
                  <a:lnTo>
                    <a:pt x="185738" y="100013"/>
                  </a:lnTo>
                  <a:lnTo>
                    <a:pt x="187552" y="99913"/>
                  </a:lnTo>
                  <a:cubicBezTo>
                    <a:pt x="194739" y="99058"/>
                    <a:pt x="200152" y="92963"/>
                    <a:pt x="200152" y="85725"/>
                  </a:cubicBezTo>
                  <a:cubicBezTo>
                    <a:pt x="200152" y="78487"/>
                    <a:pt x="194739" y="72392"/>
                    <a:pt x="187552" y="71538"/>
                  </a:cubicBezTo>
                  <a:lnTo>
                    <a:pt x="185880" y="71438"/>
                  </a:ln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92530" y="16478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图片生成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266950" y="1428750"/>
              <a:ext cx="1619250" cy="609600"/>
            </a:xfrm>
            <a:prstGeom prst="roundRect">
              <a:avLst>
                <a:gd name="adj" fmla="val 21875"/>
              </a:avLst>
            </a:prstGeom>
            <a:solidFill>
              <a:srgbClr val="F4F8FA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2486025" y="1633538"/>
              <a:ext cx="271462" cy="200025"/>
              <a:chOff x="2486025" y="1633538"/>
              <a:chExt cx="271462" cy="200025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2671762" y="1670723"/>
                <a:ext cx="85725" cy="126117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26117">
                    <a:moveTo>
                      <a:pt x="73109" y="320"/>
                    </a:moveTo>
                    <a:cubicBezTo>
                      <a:pt x="70341" y="0"/>
                      <a:pt x="67540" y="497"/>
                      <a:pt x="65051" y="1748"/>
                    </a:cubicBezTo>
                    <a:lnTo>
                      <a:pt x="0" y="34252"/>
                    </a:lnTo>
                    <a:lnTo>
                      <a:pt x="0" y="91402"/>
                    </a:lnTo>
                    <a:lnTo>
                      <a:pt x="65051" y="123907"/>
                    </a:lnTo>
                    <a:cubicBezTo>
                      <a:pt x="69474" y="126117"/>
                      <a:pt x="74726" y="125883"/>
                      <a:pt x="78935" y="123288"/>
                    </a:cubicBezTo>
                    <a:cubicBezTo>
                      <a:pt x="83144" y="120693"/>
                      <a:pt x="85712" y="116107"/>
                      <a:pt x="85725" y="111162"/>
                    </a:cubicBezTo>
                    <a:lnTo>
                      <a:pt x="85725" y="14493"/>
                    </a:lnTo>
                    <a:cubicBezTo>
                      <a:pt x="85717" y="7255"/>
                      <a:pt x="80297" y="1167"/>
                      <a:pt x="73109" y="320"/>
                    </a:cubicBezTo>
                    <a:close/>
                  </a:path>
                </a:pathLst>
              </a:custGeom>
              <a:solidFill>
                <a:srgbClr val="E11D48"/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2486025" y="163353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42862" y="0"/>
                    </a:moveTo>
                    <a:cubicBezTo>
                      <a:pt x="19360" y="0"/>
                      <a:pt x="0" y="19360"/>
                      <a:pt x="0" y="42862"/>
                    </a:cubicBezTo>
                    <a:lnTo>
                      <a:pt x="0" y="157162"/>
                    </a:lnTo>
                    <a:cubicBezTo>
                      <a:pt x="0" y="180665"/>
                      <a:pt x="19360" y="200025"/>
                      <a:pt x="42862" y="200025"/>
                    </a:cubicBezTo>
                    <a:lnTo>
                      <a:pt x="157162" y="200025"/>
                    </a:lnTo>
                    <a:cubicBezTo>
                      <a:pt x="180665" y="200025"/>
                      <a:pt x="200025" y="180665"/>
                      <a:pt x="200025" y="157162"/>
                    </a:cubicBezTo>
                    <a:lnTo>
                      <a:pt x="200025" y="42862"/>
                    </a:lnTo>
                    <a:cubicBezTo>
                      <a:pt x="200025" y="19360"/>
                      <a:pt x="180665" y="0"/>
                      <a:pt x="157162" y="0"/>
                    </a:cubicBezTo>
                    <a:close/>
                  </a:path>
                </a:pathLst>
              </a:custGeom>
              <a:solidFill>
                <a:srgbClr val="E11D48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2926080" y="16478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视频生成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03954" y="1680210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具体路径、尺寸和时长限制以可用模型说明为准。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2476500" y="3581400"/>
            <a:ext cx="6991350" cy="266700"/>
            <a:chOff x="2476500" y="3581400"/>
            <a:chExt cx="6991350" cy="266700"/>
          </a:xfrm>
        </p:grpSpPr>
        <p:sp>
          <p:nvSpPr>
            <p:cNvPr id="18" name="Freeform 18"/>
            <p:cNvSpPr/>
            <p:nvPr/>
          </p:nvSpPr>
          <p:spPr>
            <a:xfrm>
              <a:off x="2476500" y="3581400"/>
              <a:ext cx="419100" cy="266700"/>
            </a:xfrm>
            <a:custGeom>
              <a:avLst/>
              <a:gdLst/>
              <a:ahLst/>
              <a:cxnLst/>
              <a:rect l="l" t="t" r="r" b="b"/>
              <a:pathLst>
                <a:path w="419100" h="266700">
                  <a:moveTo>
                    <a:pt x="0" y="95250"/>
                  </a:moveTo>
                  <a:lnTo>
                    <a:pt x="247650" y="95250"/>
                  </a:lnTo>
                  <a:lnTo>
                    <a:pt x="247650" y="0"/>
                  </a:lnTo>
                  <a:lnTo>
                    <a:pt x="419100" y="133350"/>
                  </a:lnTo>
                  <a:lnTo>
                    <a:pt x="247650" y="266700"/>
                  </a:lnTo>
                  <a:lnTo>
                    <a:pt x="247650" y="17145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4667250" y="3581400"/>
              <a:ext cx="419100" cy="266700"/>
            </a:xfrm>
            <a:custGeom>
              <a:avLst/>
              <a:gdLst/>
              <a:ahLst/>
              <a:cxnLst/>
              <a:rect l="l" t="t" r="r" b="b"/>
              <a:pathLst>
                <a:path w="419100" h="266700">
                  <a:moveTo>
                    <a:pt x="0" y="95250"/>
                  </a:moveTo>
                  <a:lnTo>
                    <a:pt x="247650" y="95250"/>
                  </a:lnTo>
                  <a:lnTo>
                    <a:pt x="247650" y="0"/>
                  </a:lnTo>
                  <a:lnTo>
                    <a:pt x="419100" y="133350"/>
                  </a:lnTo>
                  <a:lnTo>
                    <a:pt x="247650" y="266700"/>
                  </a:lnTo>
                  <a:lnTo>
                    <a:pt x="247650" y="17145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6858000" y="3581400"/>
              <a:ext cx="419100" cy="266700"/>
            </a:xfrm>
            <a:custGeom>
              <a:avLst/>
              <a:gdLst/>
              <a:ahLst/>
              <a:cxnLst/>
              <a:rect l="l" t="t" r="r" b="b"/>
              <a:pathLst>
                <a:path w="419100" h="266700">
                  <a:moveTo>
                    <a:pt x="0" y="95250"/>
                  </a:moveTo>
                  <a:lnTo>
                    <a:pt x="247650" y="95250"/>
                  </a:lnTo>
                  <a:lnTo>
                    <a:pt x="247650" y="0"/>
                  </a:lnTo>
                  <a:lnTo>
                    <a:pt x="419100" y="133350"/>
                  </a:lnTo>
                  <a:lnTo>
                    <a:pt x="247650" y="266700"/>
                  </a:lnTo>
                  <a:lnTo>
                    <a:pt x="247650" y="17145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9048750" y="3581400"/>
              <a:ext cx="419100" cy="266700"/>
            </a:xfrm>
            <a:custGeom>
              <a:avLst/>
              <a:gdLst/>
              <a:ahLst/>
              <a:cxnLst/>
              <a:rect l="l" t="t" r="r" b="b"/>
              <a:pathLst>
                <a:path w="419100" h="266700">
                  <a:moveTo>
                    <a:pt x="0" y="95250"/>
                  </a:moveTo>
                  <a:lnTo>
                    <a:pt x="247650" y="95250"/>
                  </a:lnTo>
                  <a:lnTo>
                    <a:pt x="247650" y="0"/>
                  </a:lnTo>
                  <a:lnTo>
                    <a:pt x="419100" y="133350"/>
                  </a:lnTo>
                  <a:lnTo>
                    <a:pt x="247650" y="266700"/>
                  </a:lnTo>
                  <a:lnTo>
                    <a:pt x="247650" y="171450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533400" y="2381250"/>
            <a:ext cx="1943100" cy="2724150"/>
            <a:chOff x="533400" y="2381250"/>
            <a:chExt cx="1943100" cy="2724150"/>
          </a:xfrm>
        </p:grpSpPr>
        <p:sp>
          <p:nvSpPr>
            <p:cNvPr id="23" name="Rectangle 23"/>
            <p:cNvSpPr/>
            <p:nvPr/>
          </p:nvSpPr>
          <p:spPr>
            <a:xfrm>
              <a:off x="533400" y="2381250"/>
              <a:ext cx="1943100" cy="2724150"/>
            </a:xfrm>
            <a:prstGeom prst="roundRect">
              <a:avLst>
                <a:gd name="adj" fmla="val 6863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2381250"/>
              <a:ext cx="1943100" cy="609600"/>
            </a:xfrm>
            <a:prstGeom prst="roundRect">
              <a:avLst>
                <a:gd name="adj" fmla="val 21875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533400" y="2819400"/>
              <a:ext cx="1943100" cy="17145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73430" y="2609850"/>
              <a:ext cx="1160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 提交任务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3430" y="32099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发送参数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74954" y="3604260"/>
              <a:ext cx="138379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模型、提示词、尺寸</a:t>
              </a:r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或时长必须有效。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81050" y="4438650"/>
              <a:ext cx="1447800" cy="419100"/>
            </a:xfrm>
            <a:prstGeom prst="roundRect">
              <a:avLst>
                <a:gd name="adj" fmla="val 27273"/>
              </a:avLst>
            </a:prstGeom>
            <a:solidFill>
              <a:srgbClr val="F4F8F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92226" y="4559618"/>
              <a:ext cx="12254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0F766E"/>
                  </a:solidFill>
                  <a:latin typeface="Consolas"/>
                  <a:ea typeface="Consolas"/>
                  <a:cs typeface="Consolas"/>
                </a:rPr>
                <a:t>request body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2724150" y="2381250"/>
            <a:ext cx="1943100" cy="2724150"/>
            <a:chOff x="2724150" y="2381250"/>
            <a:chExt cx="1943100" cy="2724150"/>
          </a:xfrm>
        </p:grpSpPr>
        <p:sp>
          <p:nvSpPr>
            <p:cNvPr id="32" name="Rectangle 32"/>
            <p:cNvSpPr/>
            <p:nvPr/>
          </p:nvSpPr>
          <p:spPr>
            <a:xfrm>
              <a:off x="2724150" y="2381250"/>
              <a:ext cx="1943100" cy="2724150"/>
            </a:xfrm>
            <a:prstGeom prst="roundRect">
              <a:avLst>
                <a:gd name="adj" fmla="val 6863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2724150" y="2381250"/>
              <a:ext cx="1943100" cy="609600"/>
            </a:xfrm>
            <a:prstGeom prst="roundRect">
              <a:avLst>
                <a:gd name="adj" fmla="val 21875"/>
              </a:avLst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2724150" y="2819400"/>
              <a:ext cx="1943100" cy="171450"/>
            </a:xfrm>
            <a:prstGeom prst="rect">
              <a:avLst/>
            </a:prstGeom>
            <a:solidFill>
              <a:srgbClr val="2563E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964180" y="2609850"/>
              <a:ext cx="10345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 保存 ID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964180" y="32099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立即记录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965704" y="3604260"/>
              <a:ext cx="138379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任务 ID 是后续查询</a:t>
              </a:r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和排错的唯一索引。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971800" y="4438650"/>
              <a:ext cx="1447800" cy="419100"/>
            </a:xfrm>
            <a:prstGeom prst="roundRect">
              <a:avLst>
                <a:gd name="adj" fmla="val 27273"/>
              </a:avLst>
            </a:prstGeom>
            <a:solidFill>
              <a:srgbClr val="F4F8F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345359" y="4559618"/>
              <a:ext cx="7006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2563EB"/>
                  </a:solidFill>
                  <a:latin typeface="Consolas"/>
                  <a:ea typeface="Consolas"/>
                  <a:cs typeface="Consolas"/>
                </a:rPr>
                <a:t>task_id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914900" y="2381250"/>
            <a:ext cx="1943100" cy="2724150"/>
            <a:chOff x="4914900" y="2381250"/>
            <a:chExt cx="1943100" cy="2724150"/>
          </a:xfrm>
        </p:grpSpPr>
        <p:sp>
          <p:nvSpPr>
            <p:cNvPr id="41" name="Rectangle 41"/>
            <p:cNvSpPr/>
            <p:nvPr/>
          </p:nvSpPr>
          <p:spPr>
            <a:xfrm>
              <a:off x="4914900" y="2381250"/>
              <a:ext cx="1943100" cy="2724150"/>
            </a:xfrm>
            <a:prstGeom prst="roundRect">
              <a:avLst>
                <a:gd name="adj" fmla="val 6863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4914900" y="2381250"/>
              <a:ext cx="1943100" cy="609600"/>
            </a:xfrm>
            <a:prstGeom prst="roundRect">
              <a:avLst>
                <a:gd name="adj" fmla="val 21875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914900" y="2819400"/>
              <a:ext cx="1943100" cy="17145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154930" y="2609850"/>
              <a:ext cx="1160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 轮询状态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154930" y="32099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控制频率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156454" y="3604260"/>
              <a:ext cx="168859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设置合理间隔和最大</a:t>
              </a:r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等待时间，避免高频查。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162550" y="4438650"/>
              <a:ext cx="1447800" cy="419100"/>
            </a:xfrm>
            <a:prstGeom prst="roundRect">
              <a:avLst>
                <a:gd name="adj" fmla="val 27273"/>
              </a:avLst>
            </a:prstGeom>
            <a:solidFill>
              <a:srgbClr val="F4F8F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378679" y="4559618"/>
              <a:ext cx="10155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D97706"/>
                  </a:solidFill>
                  <a:latin typeface="Consolas"/>
                  <a:ea typeface="Consolas"/>
                  <a:cs typeface="Consolas"/>
                </a:rPr>
                <a:t>processing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105650" y="2381250"/>
            <a:ext cx="1943100" cy="2724150"/>
            <a:chOff x="7105650" y="2381250"/>
            <a:chExt cx="1943100" cy="2724150"/>
          </a:xfrm>
        </p:grpSpPr>
        <p:sp>
          <p:nvSpPr>
            <p:cNvPr id="50" name="Rectangle 50"/>
            <p:cNvSpPr/>
            <p:nvPr/>
          </p:nvSpPr>
          <p:spPr>
            <a:xfrm>
              <a:off x="7105650" y="2381250"/>
              <a:ext cx="1943100" cy="2724150"/>
            </a:xfrm>
            <a:prstGeom prst="roundRect">
              <a:avLst>
                <a:gd name="adj" fmla="val 6863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7105650" y="2381250"/>
              <a:ext cx="1943100" cy="609600"/>
            </a:xfrm>
            <a:prstGeom prst="roundRect">
              <a:avLst>
                <a:gd name="adj" fmla="val 21875"/>
              </a:avLst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7105650" y="2819400"/>
              <a:ext cx="1943100" cy="17145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345680" y="2609850"/>
              <a:ext cx="1160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 确认完成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45680" y="32099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读取终态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47204" y="3604260"/>
              <a:ext cx="161239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只有 completed 或明确</a:t>
              </a:r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失败才是最终结果。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353300" y="4438650"/>
              <a:ext cx="1447800" cy="419100"/>
            </a:xfrm>
            <a:prstGeom prst="roundRect">
              <a:avLst>
                <a:gd name="adj" fmla="val 27273"/>
              </a:avLst>
            </a:prstGeom>
            <a:solidFill>
              <a:srgbClr val="F4F8F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602824" y="4559618"/>
              <a:ext cx="9487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059669"/>
                  </a:solidFill>
                  <a:latin typeface="Consolas"/>
                  <a:ea typeface="Consolas"/>
                  <a:cs typeface="Consolas"/>
                </a:rPr>
                <a:t>completed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9296400" y="2381250"/>
            <a:ext cx="2362200" cy="2724150"/>
            <a:chOff x="9296400" y="2381250"/>
            <a:chExt cx="2362200" cy="2724150"/>
          </a:xfrm>
        </p:grpSpPr>
        <p:sp>
          <p:nvSpPr>
            <p:cNvPr id="59" name="Rectangle 59"/>
            <p:cNvSpPr/>
            <p:nvPr/>
          </p:nvSpPr>
          <p:spPr>
            <a:xfrm>
              <a:off x="9296400" y="2381250"/>
              <a:ext cx="2362200" cy="2724150"/>
            </a:xfrm>
            <a:prstGeom prst="roundRect">
              <a:avLst>
                <a:gd name="adj" fmla="val 5645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9296400" y="2381250"/>
              <a:ext cx="2362200" cy="609600"/>
            </a:xfrm>
            <a:prstGeom prst="roundRect">
              <a:avLst>
                <a:gd name="adj" fmla="val 21875"/>
              </a:avLst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9296400" y="2819400"/>
              <a:ext cx="2362200" cy="171450"/>
            </a:xfrm>
            <a:prstGeom prst="rect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536430" y="2609850"/>
              <a:ext cx="11601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05 保存结果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536430" y="32099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下载文件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537954" y="3604260"/>
              <a:ext cx="1726692" cy="5013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结果 URL 可能有有效期，</a:t>
              </a:r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应及时下载并记录。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9544050" y="4438650"/>
              <a:ext cx="1866900" cy="419100"/>
            </a:xfrm>
            <a:prstGeom prst="roundRect">
              <a:avLst>
                <a:gd name="adj" fmla="val 27273"/>
              </a:avLst>
            </a:prstGeom>
            <a:solidFill>
              <a:srgbClr val="F4F8F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993582" y="455961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E11D48"/>
                  </a:solidFill>
                  <a:latin typeface="Consolas"/>
                  <a:ea typeface="Consolas"/>
                  <a:cs typeface="Consolas"/>
                </a:rPr>
                <a:t>result_url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33400" y="5391150"/>
            <a:ext cx="11125200" cy="704850"/>
            <a:chOff x="533400" y="5391150"/>
            <a:chExt cx="11125200" cy="704850"/>
          </a:xfrm>
        </p:grpSpPr>
        <p:sp>
          <p:nvSpPr>
            <p:cNvPr id="68" name="Rectangle 68"/>
            <p:cNvSpPr/>
            <p:nvPr/>
          </p:nvSpPr>
          <p:spPr>
            <a:xfrm>
              <a:off x="533400" y="5391150"/>
              <a:ext cx="11125200" cy="704850"/>
            </a:xfrm>
            <a:prstGeom prst="roundRect">
              <a:avLst>
                <a:gd name="adj" fmla="val 18919"/>
              </a:avLst>
            </a:prstGeom>
            <a:solidFill>
              <a:srgbClr val="F4F8FA"/>
            </a:solidFill>
            <a:ln>
              <a:noFill/>
            </a:ln>
          </p:spPr>
        </p:sp>
        <p:sp>
          <p:nvSpPr>
            <p:cNvPr id="69" name="Freeform 69"/>
            <p:cNvSpPr/>
            <p:nvPr/>
          </p:nvSpPr>
          <p:spPr>
            <a:xfrm>
              <a:off x="794676" y="5570061"/>
              <a:ext cx="353565" cy="306801"/>
            </a:xfrm>
            <a:custGeom>
              <a:avLst/>
              <a:gdLst/>
              <a:ahLst/>
              <a:cxnLst/>
              <a:rect l="l" t="t" r="r" b="b"/>
              <a:pathLst>
                <a:path w="353565" h="306801">
                  <a:moveTo>
                    <a:pt x="176875" y="0"/>
                  </a:moveTo>
                  <a:cubicBezTo>
                    <a:pt x="192035" y="0"/>
                    <a:pt x="206164" y="7414"/>
                    <a:pt x="214816" y="19796"/>
                  </a:cubicBezTo>
                  <a:lnTo>
                    <a:pt x="216483" y="22336"/>
                  </a:lnTo>
                  <a:lnTo>
                    <a:pt x="345293" y="237411"/>
                  </a:lnTo>
                  <a:cubicBezTo>
                    <a:pt x="353250" y="251193"/>
                    <a:pt x="353565" y="268097"/>
                    <a:pt x="346126" y="282166"/>
                  </a:cubicBezTo>
                  <a:cubicBezTo>
                    <a:pt x="338687" y="296234"/>
                    <a:pt x="324539" y="305491"/>
                    <a:pt x="308669" y="306674"/>
                  </a:cubicBezTo>
                  <a:lnTo>
                    <a:pt x="305574" y="306801"/>
                  </a:lnTo>
                  <a:lnTo>
                    <a:pt x="48001" y="306801"/>
                  </a:lnTo>
                  <a:cubicBezTo>
                    <a:pt x="32116" y="306622"/>
                    <a:pt x="17433" y="298304"/>
                    <a:pt x="9113" y="284771"/>
                  </a:cubicBezTo>
                  <a:cubicBezTo>
                    <a:pt x="793" y="271237"/>
                    <a:pt x="0" y="254381"/>
                    <a:pt x="7012" y="240126"/>
                  </a:cubicBezTo>
                  <a:lnTo>
                    <a:pt x="8584" y="237189"/>
                  </a:lnTo>
                  <a:lnTo>
                    <a:pt x="137330" y="22273"/>
                  </a:lnTo>
                  <a:cubicBezTo>
                    <a:pt x="145714" y="8448"/>
                    <a:pt x="160707" y="4"/>
                    <a:pt x="176875" y="0"/>
                  </a:cubicBezTo>
                  <a:close/>
                  <a:moveTo>
                    <a:pt x="177034" y="211614"/>
                  </a:moveTo>
                  <a:lnTo>
                    <a:pt x="175017" y="211725"/>
                  </a:lnTo>
                  <a:cubicBezTo>
                    <a:pt x="167032" y="212675"/>
                    <a:pt x="161018" y="219447"/>
                    <a:pt x="161018" y="227489"/>
                  </a:cubicBezTo>
                  <a:cubicBezTo>
                    <a:pt x="161018" y="235531"/>
                    <a:pt x="167032" y="242303"/>
                    <a:pt x="175017" y="243253"/>
                  </a:cubicBezTo>
                  <a:lnTo>
                    <a:pt x="176875" y="243364"/>
                  </a:lnTo>
                  <a:lnTo>
                    <a:pt x="178891" y="243253"/>
                  </a:lnTo>
                  <a:cubicBezTo>
                    <a:pt x="186877" y="242303"/>
                    <a:pt x="192891" y="235531"/>
                    <a:pt x="192891" y="227489"/>
                  </a:cubicBezTo>
                  <a:cubicBezTo>
                    <a:pt x="192891" y="219447"/>
                    <a:pt x="186877" y="212675"/>
                    <a:pt x="178891" y="211725"/>
                  </a:cubicBezTo>
                  <a:lnTo>
                    <a:pt x="177034" y="211614"/>
                  </a:lnTo>
                  <a:close/>
                  <a:moveTo>
                    <a:pt x="176875" y="100489"/>
                  </a:moveTo>
                  <a:cubicBezTo>
                    <a:pt x="168827" y="100490"/>
                    <a:pt x="162053" y="106514"/>
                    <a:pt x="161111" y="114507"/>
                  </a:cubicBezTo>
                  <a:lnTo>
                    <a:pt x="161000" y="116364"/>
                  </a:lnTo>
                  <a:lnTo>
                    <a:pt x="161000" y="179864"/>
                  </a:lnTo>
                  <a:lnTo>
                    <a:pt x="161111" y="181721"/>
                  </a:lnTo>
                  <a:cubicBezTo>
                    <a:pt x="162061" y="189707"/>
                    <a:pt x="168833" y="195721"/>
                    <a:pt x="176875" y="195721"/>
                  </a:cubicBezTo>
                  <a:cubicBezTo>
                    <a:pt x="184917" y="195721"/>
                    <a:pt x="191689" y="189707"/>
                    <a:pt x="192639" y="181721"/>
                  </a:cubicBezTo>
                  <a:lnTo>
                    <a:pt x="192750" y="179864"/>
                  </a:lnTo>
                  <a:lnTo>
                    <a:pt x="192750" y="116364"/>
                  </a:lnTo>
                  <a:lnTo>
                    <a:pt x="192639" y="114507"/>
                  </a:lnTo>
                  <a:cubicBezTo>
                    <a:pt x="191697" y="106514"/>
                    <a:pt x="184923" y="100490"/>
                    <a:pt x="176875" y="100489"/>
                  </a:cubicBezTo>
                  <a:close/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1344930" y="5657850"/>
              <a:ext cx="70545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短时间没有结果，不等于任务失败；先按 task_id 查询，再决定是否重试。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528066" y="6420802"/>
            <a:ext cx="11135868" cy="205359"/>
            <a:chOff x="528066" y="6420802"/>
            <a:chExt cx="11135868" cy="205359"/>
          </a:xfrm>
        </p:grpSpPr>
        <p:sp>
          <p:nvSpPr>
            <p:cNvPr id="72" name="TextBox 72"/>
            <p:cNvSpPr txBox="1"/>
            <p:nvPr/>
          </p:nvSpPr>
          <p:spPr>
            <a:xfrm>
              <a:off x="528066" y="64208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媒体任务通用流程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1497780" y="64208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18160" y="304800"/>
            <a:ext cx="6837788" cy="862584"/>
            <a:chOff x="518160" y="304800"/>
            <a:chExt cx="6837788" cy="862584"/>
          </a:xfrm>
        </p:grpSpPr>
        <p:sp>
          <p:nvSpPr>
            <p:cNvPr id="5" name="TextBox 5"/>
            <p:cNvSpPr txBox="1"/>
            <p:nvPr/>
          </p:nvSpPr>
          <p:spPr>
            <a:xfrm>
              <a:off x="518160" y="304800"/>
              <a:ext cx="6837788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从“使用密钥”确认模型与 Base URL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4256" y="81534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复制配置前，先把三个关键值看清楚。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57200" y="1504950"/>
            <a:ext cx="7581900" cy="4800600"/>
            <a:chOff x="457200" y="1504950"/>
            <a:chExt cx="7581900" cy="4800600"/>
          </a:xfrm>
        </p:grpSpPr>
        <p:sp>
          <p:nvSpPr>
            <p:cNvPr id="8" name="Rectangle 8"/>
            <p:cNvSpPr/>
            <p:nvPr/>
          </p:nvSpPr>
          <p:spPr>
            <a:xfrm>
              <a:off x="457200" y="1504950"/>
              <a:ext cx="7581900" cy="4800600"/>
            </a:xfrm>
            <a:prstGeom prst="roundRect">
              <a:avLst>
                <a:gd name="adj" fmla="val 2778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00" y="1581150"/>
              <a:ext cx="7429500" cy="4648200"/>
            </a:xfrm>
            <a:prstGeom prst="roundRect">
              <a:avLst>
                <a:gd name="adj" fmla="val 2459"/>
              </a:avLst>
            </a:prstGeom>
          </p:spPr>
        </p:pic>
        <p:sp>
          <p:nvSpPr>
            <p:cNvPr id="10" name="Freeform 10"/>
            <p:cNvSpPr/>
            <p:nvPr/>
          </p:nvSpPr>
          <p:spPr>
            <a:xfrm>
              <a:off x="3429000" y="4305300"/>
              <a:ext cx="4019550" cy="9525"/>
            </a:xfrm>
            <a:custGeom>
              <a:avLst/>
              <a:gdLst/>
              <a:ahLst/>
              <a:cxnLst/>
              <a:rect l="l" t="t" r="r" b="b"/>
              <a:pathLst>
                <a:path w="4019550" h="9525">
                  <a:moveTo>
                    <a:pt x="0" y="0"/>
                  </a:moveTo>
                  <a:lnTo>
                    <a:pt x="4019550" y="0"/>
                  </a:lnTo>
                </a:path>
              </a:pathLst>
            </a:custGeom>
            <a:noFill/>
            <a:ln w="19050">
              <a:solidFill>
                <a:srgbClr val="E11D48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714750" y="5219700"/>
              <a:ext cx="3733800" cy="9525"/>
            </a:xfrm>
            <a:custGeom>
              <a:avLst/>
              <a:gdLst/>
              <a:ahLst/>
              <a:cxnLst/>
              <a:rect l="l" t="t" r="r" b="b"/>
              <a:pathLst>
                <a:path w="3733800" h="9525">
                  <a:moveTo>
                    <a:pt x="0" y="0"/>
                  </a:moveTo>
                  <a:lnTo>
                    <a:pt x="3733800" y="0"/>
                  </a:lnTo>
                </a:path>
              </a:pathLst>
            </a:custGeom>
            <a:noFill/>
            <a:ln w="19050">
              <a:solidFill>
                <a:srgbClr val="E11D48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429000" y="5324475"/>
              <a:ext cx="4019550" cy="314325"/>
            </a:xfrm>
            <a:custGeom>
              <a:avLst/>
              <a:gdLst/>
              <a:ahLst/>
              <a:cxnLst/>
              <a:rect l="l" t="t" r="r" b="b"/>
              <a:pathLst>
                <a:path w="4019550" h="314325">
                  <a:moveTo>
                    <a:pt x="0" y="0"/>
                  </a:moveTo>
                  <a:lnTo>
                    <a:pt x="4019550" y="314325"/>
                  </a:lnTo>
                </a:path>
              </a:pathLst>
            </a:custGeom>
            <a:noFill/>
            <a:ln w="19050">
              <a:solidFill>
                <a:srgbClr val="E11D48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7458075" y="4152900"/>
              <a:ext cx="285750" cy="285750"/>
            </a:xfrm>
            <a:prstGeom prst="ellipse">
              <a:avLst/>
            </a:prstGeom>
            <a:solidFill>
              <a:srgbClr val="E11D48"/>
            </a:solidFill>
            <a:ln w="19050">
              <a:solidFill>
                <a:srgbClr val="FFFFFF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54801" y="423005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458075" y="5076825"/>
              <a:ext cx="285750" cy="285750"/>
            </a:xfrm>
            <a:prstGeom prst="ellipse">
              <a:avLst/>
            </a:prstGeom>
            <a:solidFill>
              <a:srgbClr val="E11D48"/>
            </a:solidFill>
            <a:ln w="19050">
              <a:solidFill>
                <a:srgbClr val="FFFFFF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554801" y="51539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7458075" y="5495925"/>
              <a:ext cx="285750" cy="285750"/>
            </a:xfrm>
            <a:prstGeom prst="ellipse">
              <a:avLst/>
            </a:prstGeom>
            <a:solidFill>
              <a:srgbClr val="E11D48"/>
            </a:solidFill>
            <a:ln w="19050">
              <a:solidFill>
                <a:srgbClr val="FFFFF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54801" y="557307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343900" y="1581150"/>
            <a:ext cx="3314700" cy="3943350"/>
            <a:chOff x="8343900" y="1581150"/>
            <a:chExt cx="3314700" cy="3943350"/>
          </a:xfrm>
        </p:grpSpPr>
        <p:sp>
          <p:nvSpPr>
            <p:cNvPr id="20" name="Rectangle 20"/>
            <p:cNvSpPr/>
            <p:nvPr/>
          </p:nvSpPr>
          <p:spPr>
            <a:xfrm>
              <a:off x="8343900" y="1581150"/>
              <a:ext cx="3314700" cy="1200150"/>
            </a:xfrm>
            <a:prstGeom prst="roundRect">
              <a:avLst>
                <a:gd name="adj" fmla="val 11111"/>
              </a:avLst>
            </a:prstGeom>
            <a:solidFill>
              <a:srgbClr val="F4F8FA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8477250" y="1752600"/>
              <a:ext cx="381000" cy="3810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08415" y="18640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41130" y="1781175"/>
              <a:ext cx="5877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model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61654" y="2194560"/>
              <a:ext cx="19933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模型名必须逐字符一致，</a:t>
              </a:r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不要自己改大小写或版本号。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43900" y="2952750"/>
              <a:ext cx="3314700" cy="1200150"/>
            </a:xfrm>
            <a:prstGeom prst="roundRect">
              <a:avLst>
                <a:gd name="adj" fmla="val 11111"/>
              </a:avLst>
            </a:prstGeom>
            <a:solidFill>
              <a:srgbClr val="F4F8FA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477250" y="3124200"/>
              <a:ext cx="381000" cy="3810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08415" y="32356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41130" y="3152775"/>
              <a:ext cx="8951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base_url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61654" y="3566160"/>
              <a:ext cx="204673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使用站点给出的 HTTPS 地址，</a:t>
              </a:r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不要重复拼接或漏掉路径。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343900" y="4324350"/>
              <a:ext cx="3314700" cy="1200150"/>
            </a:xfrm>
            <a:prstGeom prst="roundRect">
              <a:avLst>
                <a:gd name="adj" fmla="val 11111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8477250" y="4495800"/>
              <a:ext cx="381000" cy="3810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8415" y="46072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41130" y="45243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接口协议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661654" y="4937760"/>
              <a:ext cx="21838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配置示例可能使用 responses；</a:t>
              </a:r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媒体模型需看专用接口说明。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343900" y="5695950"/>
            <a:ext cx="3627120" cy="533400"/>
            <a:chOff x="8343900" y="5695950"/>
            <a:chExt cx="3627120" cy="533400"/>
          </a:xfrm>
        </p:grpSpPr>
        <p:sp>
          <p:nvSpPr>
            <p:cNvPr id="36" name="Rectangle 36"/>
            <p:cNvSpPr/>
            <p:nvPr/>
          </p:nvSpPr>
          <p:spPr>
            <a:xfrm>
              <a:off x="8343900" y="5695950"/>
              <a:ext cx="3314700" cy="533400"/>
            </a:xfrm>
            <a:prstGeom prst="roundRect">
              <a:avLst>
                <a:gd name="adj" fmla="val 25000"/>
              </a:avLst>
            </a:prstGeom>
            <a:solidFill>
              <a:srgbClr val="F4F8F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66404" y="5890260"/>
              <a:ext cx="3404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97706"/>
                  </a:solidFill>
                  <a:latin typeface="Arial"/>
                  <a:ea typeface="Microsoft YaHei"/>
                  <a:cs typeface="Arial"/>
                </a:rPr>
                <a:t>模型广场未开放时，以管理员给出的清单为准。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28066" y="6439852"/>
            <a:ext cx="11135868" cy="205359"/>
            <a:chOff x="528066" y="6439852"/>
            <a:chExt cx="11135868" cy="205359"/>
          </a:xfrm>
        </p:grpSpPr>
        <p:sp>
          <p:nvSpPr>
            <p:cNvPr id="39" name="TextBox 39"/>
            <p:cNvSpPr txBox="1"/>
            <p:nvPr/>
          </p:nvSpPr>
          <p:spPr>
            <a:xfrm>
              <a:off x="528066" y="6439852"/>
              <a:ext cx="32150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真实页面已脱敏；认证 Key 区域未进入可见画面。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497780" y="64398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18160" y="304800"/>
            <a:ext cx="8935593" cy="862584"/>
            <a:chOff x="518160" y="304800"/>
            <a:chExt cx="8935593" cy="862584"/>
          </a:xfrm>
        </p:grpSpPr>
        <p:sp>
          <p:nvSpPr>
            <p:cNvPr id="5" name="TextBox 5"/>
            <p:cNvSpPr txBox="1"/>
            <p:nvPr/>
          </p:nvSpPr>
          <p:spPr>
            <a:xfrm>
              <a:off x="518160" y="304800"/>
              <a:ext cx="893559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用量记录回答：谁、何时、用了什么、花了多少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4256" y="81534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请求完成后，这里是核对模型和费用的最终依据。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7200" y="1428750"/>
            <a:ext cx="7962900" cy="5029200"/>
            <a:chOff x="457200" y="1428750"/>
            <a:chExt cx="7962900" cy="5029200"/>
          </a:xfrm>
        </p:grpSpPr>
        <p:sp>
          <p:nvSpPr>
            <p:cNvPr id="8" name="Rectangle 8"/>
            <p:cNvSpPr/>
            <p:nvPr/>
          </p:nvSpPr>
          <p:spPr>
            <a:xfrm>
              <a:off x="457200" y="1428750"/>
              <a:ext cx="7962900" cy="5029200"/>
            </a:xfrm>
            <a:prstGeom prst="roundRect">
              <a:avLst>
                <a:gd name="adj" fmla="val 2652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00" y="1504950"/>
              <a:ext cx="7810500" cy="4876800"/>
            </a:xfrm>
            <a:prstGeom prst="roundRect">
              <a:avLst>
                <a:gd name="adj" fmla="val 2343"/>
              </a:avLst>
            </a:prstGeom>
          </p:spPr>
        </p:pic>
        <p:sp>
          <p:nvSpPr>
            <p:cNvPr id="10" name="Ellipse 10"/>
            <p:cNvSpPr/>
            <p:nvPr/>
          </p:nvSpPr>
          <p:spPr>
            <a:xfrm>
              <a:off x="5172075" y="3714750"/>
              <a:ext cx="419100" cy="4191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315698" y="38385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734050" y="4743450"/>
              <a:ext cx="419100" cy="4191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877673" y="48672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019925" y="4743450"/>
              <a:ext cx="419100" cy="4191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163548" y="486727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686800" y="1504950"/>
            <a:ext cx="3076194" cy="4000500"/>
            <a:chOff x="8686800" y="1504950"/>
            <a:chExt cx="3076194" cy="4000500"/>
          </a:xfrm>
        </p:grpSpPr>
        <p:sp>
          <p:nvSpPr>
            <p:cNvPr id="17" name="Rectangle 17"/>
            <p:cNvSpPr/>
            <p:nvPr/>
          </p:nvSpPr>
          <p:spPr>
            <a:xfrm>
              <a:off x="8686800" y="1504950"/>
              <a:ext cx="2971800" cy="1219200"/>
            </a:xfrm>
            <a:prstGeom prst="roundRect">
              <a:avLst>
                <a:gd name="adj" fmla="val 10938"/>
              </a:avLst>
            </a:prstGeom>
            <a:solidFill>
              <a:srgbClr val="F4F8FA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820150" y="1676400"/>
              <a:ext cx="381000" cy="3810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951315" y="17878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84030" y="173355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筛选时间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04554" y="215646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按发生时间缩小范围，避免找错请求。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686800" y="2895600"/>
              <a:ext cx="2971800" cy="1219200"/>
            </a:xfrm>
            <a:prstGeom prst="roundRect">
              <a:avLst>
                <a:gd name="adj" fmla="val 10938"/>
              </a:avLst>
            </a:prstGeom>
            <a:solidFill>
              <a:srgbClr val="F4F8FA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8820150" y="3067050"/>
              <a:ext cx="381000" cy="3810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951315" y="317849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384030" y="312420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核对模型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04554" y="354711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模型、端点和分组应与请求一致。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686800" y="4286250"/>
              <a:ext cx="2971800" cy="1219200"/>
            </a:xfrm>
            <a:prstGeom prst="roundRect">
              <a:avLst>
                <a:gd name="adj" fmla="val 10938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8820150" y="4457700"/>
              <a:ext cx="381000" cy="3810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951315" y="4569142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384030" y="451485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核对费用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04554" y="4937760"/>
              <a:ext cx="27486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Token、媒体数量与实际费用一起看。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686800" y="5676900"/>
            <a:ext cx="2971800" cy="704850"/>
            <a:chOff x="8686800" y="5676900"/>
            <a:chExt cx="2971800" cy="704850"/>
          </a:xfrm>
        </p:grpSpPr>
        <p:sp>
          <p:nvSpPr>
            <p:cNvPr id="33" name="Rectangle 33"/>
            <p:cNvSpPr/>
            <p:nvPr/>
          </p:nvSpPr>
          <p:spPr>
            <a:xfrm>
              <a:off x="8686800" y="5676900"/>
              <a:ext cx="2971800" cy="704850"/>
            </a:xfrm>
            <a:prstGeom prst="roundRect">
              <a:avLst>
                <a:gd name="adj" fmla="val 18919"/>
              </a:avLst>
            </a:prstGeom>
            <a:solidFill>
              <a:srgbClr val="F4F8F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909304" y="5814060"/>
              <a:ext cx="17084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D97706"/>
                  </a:solidFill>
                  <a:latin typeface="Arial"/>
                  <a:ea typeface="Microsoft YaHei"/>
                  <a:cs typeface="Arial"/>
                </a:rPr>
                <a:t>流式请求可能延迟入账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909304" y="60617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以记录页最终金额为准。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28066" y="6516052"/>
            <a:ext cx="11135868" cy="205359"/>
            <a:chOff x="528066" y="6516052"/>
            <a:chExt cx="11135868" cy="205359"/>
          </a:xfrm>
        </p:grpSpPr>
        <p:sp>
          <p:nvSpPr>
            <p:cNvPr id="37" name="TextBox 37"/>
            <p:cNvSpPr txBox="1"/>
            <p:nvPr/>
          </p:nvSpPr>
          <p:spPr>
            <a:xfrm>
              <a:off x="528066" y="6516052"/>
              <a:ext cx="2576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真实使用记录页 · 当前账号暂无调用数据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497780" y="65160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18160" y="304800"/>
            <a:ext cx="5355336" cy="862584"/>
            <a:chOff x="518160" y="304800"/>
            <a:chExt cx="5355336" cy="862584"/>
          </a:xfrm>
        </p:grpSpPr>
        <p:sp>
          <p:nvSpPr>
            <p:cNvPr id="5" name="TextBox 5"/>
            <p:cNvSpPr txBox="1"/>
            <p:nvPr/>
          </p:nvSpPr>
          <p:spPr>
            <a:xfrm>
              <a:off x="518160" y="304800"/>
              <a:ext cx="520392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503 和 524 先按状态码分流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4256" y="81534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先记录事实，再联系管理员；不要连续高频重试。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7700" y="1733550"/>
            <a:ext cx="3342132" cy="3915156"/>
            <a:chOff x="647700" y="1733550"/>
            <a:chExt cx="3342132" cy="3915156"/>
          </a:xfrm>
        </p:grpSpPr>
        <p:sp>
          <p:nvSpPr>
            <p:cNvPr id="8" name="Line 8"/>
            <p:cNvSpPr/>
            <p:nvPr/>
          </p:nvSpPr>
          <p:spPr>
            <a:xfrm>
              <a:off x="876300" y="1771650"/>
              <a:ext cx="9525" cy="3810000"/>
            </a:xfrm>
            <a:custGeom>
              <a:avLst/>
              <a:gdLst/>
              <a:ahLst/>
              <a:cxnLst/>
              <a:rect l="l" t="t" r="r" b="b"/>
              <a:pathLst>
                <a:path w="9525" h="3810000">
                  <a:moveTo>
                    <a:pt x="0" y="0"/>
                  </a:moveTo>
                  <a:lnTo>
                    <a:pt x="0" y="3810000"/>
                  </a:lnTo>
                </a:path>
              </a:pathLst>
            </a:custGeom>
            <a:noFill/>
            <a:ln w="38100">
              <a:solidFill>
                <a:srgbClr val="CBD5E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647700" y="1733550"/>
              <a:ext cx="457200" cy="4572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0373" y="18764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87780" y="17621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记下请求模型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89304" y="2061210"/>
              <a:ext cx="2700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模型名原样保存，不要只写“GPT”。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647700" y="2571750"/>
              <a:ext cx="457200" cy="4572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10373" y="27146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87780" y="26003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记录发生时间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89304" y="289941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写明时区，便于管理员定位日志。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647700" y="3409950"/>
              <a:ext cx="457200" cy="4572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10373" y="35528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87780" y="3438525"/>
              <a:ext cx="11689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保存请求 ID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289304" y="373761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它是服务端检索的最快索引。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647700" y="4248150"/>
              <a:ext cx="457200" cy="4572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0373" y="43910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87780" y="427672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确认状态码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89304" y="4575810"/>
              <a:ext cx="2419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503 看账号池；524 看上游耗时。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647700" y="5086350"/>
              <a:ext cx="457200" cy="4572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10373" y="52292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87780" y="5114925"/>
              <a:ext cx="17114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仅做一次低频重试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89304" y="541401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仍失败就停止，并提交上述四项。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6629400" y="1337310"/>
            <a:ext cx="5105400" cy="3491865"/>
            <a:chOff x="6629400" y="1337310"/>
            <a:chExt cx="5105400" cy="3491865"/>
          </a:xfrm>
        </p:grpSpPr>
        <p:sp>
          <p:nvSpPr>
            <p:cNvPr id="30" name="TextBox 30"/>
            <p:cNvSpPr txBox="1"/>
            <p:nvPr/>
          </p:nvSpPr>
          <p:spPr>
            <a:xfrm>
              <a:off x="6699504" y="1337310"/>
              <a:ext cx="17084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66E"/>
                  </a:solidFill>
                  <a:latin typeface="Arial"/>
                  <a:ea typeface="Microsoft YaHei"/>
                  <a:cs typeface="Arial"/>
                </a:rPr>
                <a:t>用户可见的渠道状态页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629400" y="1581150"/>
              <a:ext cx="5105400" cy="3248025"/>
            </a:xfrm>
            <a:prstGeom prst="roundRect">
              <a:avLst>
                <a:gd name="adj" fmla="val 4106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05600" y="1657350"/>
              <a:ext cx="4953000" cy="3095625"/>
            </a:xfrm>
            <a:prstGeom prst="roundRect">
              <a:avLst>
                <a:gd name="adj" fmla="val 3692"/>
              </a:avLst>
            </a:prstGeom>
          </p:spPr>
        </p:pic>
      </p:grpSp>
      <p:grpSp>
        <p:nvGrpSpPr>
          <p:cNvPr id="40" name="Group 40"/>
          <p:cNvGrpSpPr/>
          <p:nvPr/>
        </p:nvGrpSpPr>
        <p:grpSpPr>
          <a:xfrm>
            <a:off x="6629400" y="5067300"/>
            <a:ext cx="5029200" cy="1047750"/>
            <a:chOff x="6629400" y="5067300"/>
            <a:chExt cx="5029200" cy="1047750"/>
          </a:xfrm>
        </p:grpSpPr>
        <p:sp>
          <p:nvSpPr>
            <p:cNvPr id="34" name="Rectangle 34"/>
            <p:cNvSpPr/>
            <p:nvPr/>
          </p:nvSpPr>
          <p:spPr>
            <a:xfrm>
              <a:off x="6629400" y="5067300"/>
              <a:ext cx="2419350" cy="1047750"/>
            </a:xfrm>
            <a:prstGeom prst="roundRect">
              <a:avLst>
                <a:gd name="adj" fmla="val 12727"/>
              </a:avLst>
            </a:prstGeom>
            <a:solidFill>
              <a:srgbClr val="F4F8F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866382" y="5221605"/>
              <a:ext cx="5111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E11D48"/>
                  </a:solidFill>
                  <a:latin typeface="Arial"/>
                  <a:ea typeface="Arial"/>
                  <a:cs typeface="Arial"/>
                </a:rPr>
                <a:t>503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70954" y="5604510"/>
              <a:ext cx="15361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可用账号、额度、并发</a:t>
              </a:r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以及分组绑定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239250" y="5067300"/>
              <a:ext cx="2419350" cy="1047750"/>
            </a:xfrm>
            <a:prstGeom prst="roundRect">
              <a:avLst>
                <a:gd name="adj" fmla="val 12727"/>
              </a:avLst>
            </a:prstGeom>
            <a:solidFill>
              <a:srgbClr val="F4F8F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476232" y="5221605"/>
              <a:ext cx="5111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b="1" dirty="0">
                  <a:solidFill>
                    <a:srgbClr val="D97706"/>
                  </a:solidFill>
                  <a:latin typeface="Arial"/>
                  <a:ea typeface="Arial"/>
                  <a:cs typeface="Arial"/>
                </a:rPr>
                <a:t>524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480804" y="5604510"/>
              <a:ext cx="168859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上游生成时间、代理超时</a:t>
              </a:r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以及流式连接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28066" y="6420802"/>
            <a:ext cx="11135868" cy="205359"/>
            <a:chOff x="528066" y="6420802"/>
            <a:chExt cx="11135868" cy="205359"/>
          </a:xfrm>
        </p:grpSpPr>
        <p:sp>
          <p:nvSpPr>
            <p:cNvPr id="41" name="TextBox 41"/>
            <p:cNvSpPr txBox="1"/>
            <p:nvPr/>
          </p:nvSpPr>
          <p:spPr>
            <a:xfrm>
              <a:off x="528066" y="6420802"/>
              <a:ext cx="34030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渠道页显示正常，不证明目标模型一定有可调度账号。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497780" y="642080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4F8FA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18160" y="304800"/>
            <a:ext cx="5292471" cy="862584"/>
            <a:chOff x="518160" y="304800"/>
            <a:chExt cx="5292471" cy="862584"/>
          </a:xfrm>
        </p:grpSpPr>
        <p:sp>
          <p:nvSpPr>
            <p:cNvPr id="5" name="TextBox 5"/>
            <p:cNvSpPr txBox="1"/>
            <p:nvPr/>
          </p:nvSpPr>
          <p:spPr>
            <a:xfrm>
              <a:off x="518160" y="304800"/>
              <a:ext cx="5119116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用户侧能做的六项安全检查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4256" y="815340"/>
              <a:ext cx="528637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把 API Key 当成密码，而不是普通配置字符串。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1428750"/>
            <a:ext cx="3429000" cy="1809750"/>
            <a:chOff x="533400" y="1428750"/>
            <a:chExt cx="3429000" cy="1809750"/>
          </a:xfrm>
        </p:grpSpPr>
        <p:sp>
          <p:nvSpPr>
            <p:cNvPr id="8" name="Rectangle 8"/>
            <p:cNvSpPr/>
            <p:nvPr/>
          </p:nvSpPr>
          <p:spPr>
            <a:xfrm>
              <a:off x="533400" y="1428750"/>
              <a:ext cx="3429000" cy="180975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657350"/>
              <a:ext cx="552450" cy="552450"/>
            </a:xfrm>
            <a:prstGeom prst="roundRect">
              <a:avLst>
                <a:gd name="adj" fmla="val 24138"/>
              </a:avLst>
            </a:prstGeom>
            <a:solidFill>
              <a:srgbClr val="F4F8FA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923925" y="1790700"/>
              <a:ext cx="228600" cy="285750"/>
            </a:xfrm>
            <a:custGeom>
              <a:avLst/>
              <a:gdLst/>
              <a:ahLst/>
              <a:cxnLst/>
              <a:rect l="l" t="t" r="r" b="b"/>
              <a:pathLst>
                <a:path w="228600" h="285750">
                  <a:moveTo>
                    <a:pt x="114300" y="0"/>
                  </a:moveTo>
                  <a:cubicBezTo>
                    <a:pt x="153754" y="0"/>
                    <a:pt x="185738" y="31984"/>
                    <a:pt x="185738" y="71438"/>
                  </a:cubicBezTo>
                  <a:lnTo>
                    <a:pt x="185738" y="114300"/>
                  </a:lnTo>
                  <a:cubicBezTo>
                    <a:pt x="209410" y="114300"/>
                    <a:pt x="228600" y="133490"/>
                    <a:pt x="228600" y="157162"/>
                  </a:cubicBezTo>
                  <a:lnTo>
                    <a:pt x="228600" y="242888"/>
                  </a:lnTo>
                  <a:cubicBezTo>
                    <a:pt x="228600" y="266560"/>
                    <a:pt x="209410" y="285750"/>
                    <a:pt x="185738" y="285750"/>
                  </a:cubicBezTo>
                  <a:lnTo>
                    <a:pt x="42862" y="285750"/>
                  </a:lnTo>
                  <a:cubicBezTo>
                    <a:pt x="19190" y="285750"/>
                    <a:pt x="0" y="266560"/>
                    <a:pt x="0" y="242888"/>
                  </a:cubicBezTo>
                  <a:lnTo>
                    <a:pt x="0" y="157162"/>
                  </a:lnTo>
                  <a:cubicBezTo>
                    <a:pt x="0" y="133490"/>
                    <a:pt x="19190" y="114300"/>
                    <a:pt x="42862" y="114300"/>
                  </a:cubicBezTo>
                  <a:lnTo>
                    <a:pt x="42862" y="71438"/>
                  </a:lnTo>
                  <a:cubicBezTo>
                    <a:pt x="42862" y="31984"/>
                    <a:pt x="74846" y="0"/>
                    <a:pt x="114300" y="0"/>
                  </a:cubicBezTo>
                  <a:moveTo>
                    <a:pt x="114300" y="171450"/>
                  </a:moveTo>
                  <a:cubicBezTo>
                    <a:pt x="99346" y="171445"/>
                    <a:pt x="86918" y="182970"/>
                    <a:pt x="85796" y="197882"/>
                  </a:cubicBezTo>
                  <a:lnTo>
                    <a:pt x="85725" y="200025"/>
                  </a:lnTo>
                  <a:cubicBezTo>
                    <a:pt x="85725" y="215807"/>
                    <a:pt x="98518" y="228600"/>
                    <a:pt x="114300" y="228600"/>
                  </a:cubicBezTo>
                  <a:cubicBezTo>
                    <a:pt x="130082" y="228600"/>
                    <a:pt x="142875" y="215807"/>
                    <a:pt x="142875" y="200025"/>
                  </a:cubicBezTo>
                  <a:cubicBezTo>
                    <a:pt x="142875" y="184243"/>
                    <a:pt x="130082" y="171450"/>
                    <a:pt x="114300" y="171450"/>
                  </a:cubicBezTo>
                  <a:moveTo>
                    <a:pt x="114300" y="28575"/>
                  </a:moveTo>
                  <a:cubicBezTo>
                    <a:pt x="90628" y="28575"/>
                    <a:pt x="71438" y="47765"/>
                    <a:pt x="71438" y="71438"/>
                  </a:cubicBezTo>
                  <a:lnTo>
                    <a:pt x="71438" y="114300"/>
                  </a:lnTo>
                  <a:lnTo>
                    <a:pt x="157162" y="114300"/>
                  </a:lnTo>
                  <a:lnTo>
                    <a:pt x="157162" y="71438"/>
                  </a:lnTo>
                  <a:cubicBezTo>
                    <a:pt x="157162" y="47765"/>
                    <a:pt x="137972" y="28575"/>
                    <a:pt x="114300" y="28575"/>
                  </a:cubicBezTo>
                </a:path>
              </a:pathLst>
            </a:custGeom>
            <a:solidFill>
              <a:srgbClr val="E11D4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495044" y="1732598"/>
              <a:ext cx="140994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不公开 Key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4380" y="2390775"/>
              <a:ext cx="2301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不放前端、公开仓库、截图</a:t>
              </a:r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或工单正文。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428750"/>
            <a:ext cx="3429000" cy="1809750"/>
            <a:chOff x="4381500" y="1428750"/>
            <a:chExt cx="3429000" cy="1809750"/>
          </a:xfrm>
        </p:grpSpPr>
        <p:sp>
          <p:nvSpPr>
            <p:cNvPr id="14" name="Rectangle 14"/>
            <p:cNvSpPr/>
            <p:nvPr/>
          </p:nvSpPr>
          <p:spPr>
            <a:xfrm>
              <a:off x="4381500" y="1428750"/>
              <a:ext cx="3429000" cy="180975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610100" y="1657350"/>
              <a:ext cx="552450" cy="552450"/>
            </a:xfrm>
            <a:prstGeom prst="roundRect">
              <a:avLst>
                <a:gd name="adj" fmla="val 24138"/>
              </a:avLst>
            </a:prstGeom>
            <a:solidFill>
              <a:srgbClr val="F4F8FA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4733534" y="1780784"/>
              <a:ext cx="305581" cy="305581"/>
            </a:xfrm>
            <a:custGeom>
              <a:avLst/>
              <a:gdLst/>
              <a:ahLst/>
              <a:cxnLst/>
              <a:rect l="l" t="t" r="r" b="b"/>
              <a:pathLst>
                <a:path w="305581" h="305581">
                  <a:moveTo>
                    <a:pt x="190610" y="39648"/>
                  </a:moveTo>
                  <a:cubicBezTo>
                    <a:pt x="191387" y="42857"/>
                    <a:pt x="193650" y="45502"/>
                    <a:pt x="196699" y="46767"/>
                  </a:cubicBezTo>
                  <a:cubicBezTo>
                    <a:pt x="199749" y="48032"/>
                    <a:pt x="203220" y="47765"/>
                    <a:pt x="206040" y="46049"/>
                  </a:cubicBezTo>
                  <a:cubicBezTo>
                    <a:pt x="240887" y="24832"/>
                    <a:pt x="280764" y="64694"/>
                    <a:pt x="259547" y="99541"/>
                  </a:cubicBezTo>
                  <a:cubicBezTo>
                    <a:pt x="257830" y="102360"/>
                    <a:pt x="257562" y="105828"/>
                    <a:pt x="258824" y="108877"/>
                  </a:cubicBezTo>
                  <a:cubicBezTo>
                    <a:pt x="260086" y="111926"/>
                    <a:pt x="262727" y="114190"/>
                    <a:pt x="265933" y="114972"/>
                  </a:cubicBezTo>
                  <a:cubicBezTo>
                    <a:pt x="305581" y="124587"/>
                    <a:pt x="305581" y="180980"/>
                    <a:pt x="265933" y="190610"/>
                  </a:cubicBezTo>
                  <a:cubicBezTo>
                    <a:pt x="262724" y="191387"/>
                    <a:pt x="260079" y="193650"/>
                    <a:pt x="258814" y="196699"/>
                  </a:cubicBezTo>
                  <a:cubicBezTo>
                    <a:pt x="257549" y="199749"/>
                    <a:pt x="257816" y="203220"/>
                    <a:pt x="259532" y="206040"/>
                  </a:cubicBezTo>
                  <a:cubicBezTo>
                    <a:pt x="280749" y="240887"/>
                    <a:pt x="240887" y="280764"/>
                    <a:pt x="206040" y="259547"/>
                  </a:cubicBezTo>
                  <a:cubicBezTo>
                    <a:pt x="203221" y="257830"/>
                    <a:pt x="199753" y="257562"/>
                    <a:pt x="196704" y="258824"/>
                  </a:cubicBezTo>
                  <a:cubicBezTo>
                    <a:pt x="193655" y="260086"/>
                    <a:pt x="191391" y="262727"/>
                    <a:pt x="190610" y="265933"/>
                  </a:cubicBezTo>
                  <a:cubicBezTo>
                    <a:pt x="180994" y="305581"/>
                    <a:pt x="124601" y="305581"/>
                    <a:pt x="114972" y="265933"/>
                  </a:cubicBezTo>
                  <a:cubicBezTo>
                    <a:pt x="114194" y="262724"/>
                    <a:pt x="111931" y="260079"/>
                    <a:pt x="108882" y="258814"/>
                  </a:cubicBezTo>
                  <a:cubicBezTo>
                    <a:pt x="105832" y="257549"/>
                    <a:pt x="102362" y="257816"/>
                    <a:pt x="99541" y="259532"/>
                  </a:cubicBezTo>
                  <a:cubicBezTo>
                    <a:pt x="64694" y="280749"/>
                    <a:pt x="24817" y="240887"/>
                    <a:pt x="46034" y="206040"/>
                  </a:cubicBezTo>
                  <a:cubicBezTo>
                    <a:pt x="47751" y="203221"/>
                    <a:pt x="48019" y="199753"/>
                    <a:pt x="46757" y="196704"/>
                  </a:cubicBezTo>
                  <a:cubicBezTo>
                    <a:pt x="45495" y="193655"/>
                    <a:pt x="42854" y="191391"/>
                    <a:pt x="39648" y="190610"/>
                  </a:cubicBezTo>
                  <a:cubicBezTo>
                    <a:pt x="0" y="180994"/>
                    <a:pt x="0" y="124601"/>
                    <a:pt x="39648" y="114972"/>
                  </a:cubicBezTo>
                  <a:cubicBezTo>
                    <a:pt x="42857" y="114194"/>
                    <a:pt x="45502" y="111931"/>
                    <a:pt x="46767" y="108882"/>
                  </a:cubicBezTo>
                  <a:cubicBezTo>
                    <a:pt x="48032" y="105832"/>
                    <a:pt x="47765" y="102362"/>
                    <a:pt x="46049" y="99541"/>
                  </a:cubicBezTo>
                  <a:cubicBezTo>
                    <a:pt x="24832" y="64694"/>
                    <a:pt x="64694" y="24817"/>
                    <a:pt x="99541" y="46034"/>
                  </a:cubicBezTo>
                  <a:cubicBezTo>
                    <a:pt x="102357" y="47764"/>
                    <a:pt x="105831" y="48040"/>
                    <a:pt x="108885" y="46776"/>
                  </a:cubicBezTo>
                  <a:cubicBezTo>
                    <a:pt x="111938" y="45512"/>
                    <a:pt x="114202" y="42862"/>
                    <a:pt x="114972" y="39648"/>
                  </a:cubicBezTo>
                  <a:cubicBezTo>
                    <a:pt x="124587" y="0"/>
                    <a:pt x="180980" y="0"/>
                    <a:pt x="190610" y="39648"/>
                  </a:cubicBezTo>
                  <a:close/>
                  <a:moveTo>
                    <a:pt x="152791" y="109928"/>
                  </a:moveTo>
                  <a:cubicBezTo>
                    <a:pt x="129118" y="109928"/>
                    <a:pt x="109928" y="129118"/>
                    <a:pt x="109928" y="152791"/>
                  </a:cubicBezTo>
                  <a:cubicBezTo>
                    <a:pt x="109928" y="176463"/>
                    <a:pt x="129118" y="195653"/>
                    <a:pt x="152791" y="195653"/>
                  </a:cubicBezTo>
                  <a:cubicBezTo>
                    <a:pt x="176463" y="195653"/>
                    <a:pt x="195653" y="176463"/>
                    <a:pt x="195653" y="152791"/>
                  </a:cubicBezTo>
                  <a:cubicBezTo>
                    <a:pt x="195653" y="129118"/>
                    <a:pt x="176463" y="109928"/>
                    <a:pt x="152791" y="109928"/>
                  </a:cubicBezTo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343144" y="1732598"/>
              <a:ext cx="13979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按环境分开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602480" y="2390775"/>
              <a:ext cx="2301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开发、测试和生产使用不同</a:t>
              </a:r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Key，避免相互影响。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229600" y="1428750"/>
            <a:ext cx="3429000" cy="1809750"/>
            <a:chOff x="8229600" y="1428750"/>
            <a:chExt cx="3429000" cy="1809750"/>
          </a:xfrm>
        </p:grpSpPr>
        <p:sp>
          <p:nvSpPr>
            <p:cNvPr id="20" name="Rectangle 20"/>
            <p:cNvSpPr/>
            <p:nvPr/>
          </p:nvSpPr>
          <p:spPr>
            <a:xfrm>
              <a:off x="8229600" y="1428750"/>
              <a:ext cx="3429000" cy="180975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458200" y="1657350"/>
              <a:ext cx="552450" cy="552450"/>
            </a:xfrm>
            <a:prstGeom prst="roundRect">
              <a:avLst>
                <a:gd name="adj" fmla="val 24138"/>
              </a:avLst>
            </a:prstGeom>
            <a:solidFill>
              <a:srgbClr val="F4F8FA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8585081" y="1790700"/>
              <a:ext cx="298675" cy="285903"/>
            </a:xfrm>
            <a:custGeom>
              <a:avLst/>
              <a:gdLst/>
              <a:ahLst/>
              <a:cxnLst/>
              <a:rect l="l" t="t" r="r" b="b"/>
              <a:pathLst>
                <a:path w="298675" h="285903">
                  <a:moveTo>
                    <a:pt x="149316" y="0"/>
                  </a:moveTo>
                  <a:lnTo>
                    <a:pt x="151002" y="100"/>
                  </a:lnTo>
                  <a:lnTo>
                    <a:pt x="151845" y="214"/>
                  </a:lnTo>
                  <a:lnTo>
                    <a:pt x="152716" y="400"/>
                  </a:lnTo>
                  <a:lnTo>
                    <a:pt x="154302" y="886"/>
                  </a:lnTo>
                  <a:cubicBezTo>
                    <a:pt x="155397" y="1290"/>
                    <a:pt x="156439" y="1827"/>
                    <a:pt x="157402" y="2486"/>
                  </a:cubicBezTo>
                  <a:lnTo>
                    <a:pt x="158888" y="3658"/>
                  </a:lnTo>
                  <a:lnTo>
                    <a:pt x="162532" y="6772"/>
                  </a:lnTo>
                  <a:cubicBezTo>
                    <a:pt x="191354" y="30712"/>
                    <a:pt x="227781" y="43567"/>
                    <a:pt x="265245" y="43020"/>
                  </a:cubicBezTo>
                  <a:lnTo>
                    <a:pt x="270131" y="42877"/>
                  </a:lnTo>
                  <a:cubicBezTo>
                    <a:pt x="276705" y="42577"/>
                    <a:pt x="282634" y="46807"/>
                    <a:pt x="284490" y="53121"/>
                  </a:cubicBezTo>
                  <a:cubicBezTo>
                    <a:pt x="298675" y="101374"/>
                    <a:pt x="292685" y="153316"/>
                    <a:pt x="267890" y="197074"/>
                  </a:cubicBezTo>
                  <a:cubicBezTo>
                    <a:pt x="243095" y="240832"/>
                    <a:pt x="201614" y="272664"/>
                    <a:pt x="152930" y="285293"/>
                  </a:cubicBezTo>
                  <a:cubicBezTo>
                    <a:pt x="150579" y="285903"/>
                    <a:pt x="148110" y="285903"/>
                    <a:pt x="145758" y="285293"/>
                  </a:cubicBezTo>
                  <a:cubicBezTo>
                    <a:pt x="97072" y="272667"/>
                    <a:pt x="55588" y="240837"/>
                    <a:pt x="30790" y="197078"/>
                  </a:cubicBezTo>
                  <a:cubicBezTo>
                    <a:pt x="5992" y="153320"/>
                    <a:pt x="0" y="101376"/>
                    <a:pt x="14185" y="53121"/>
                  </a:cubicBezTo>
                  <a:cubicBezTo>
                    <a:pt x="16040" y="46807"/>
                    <a:pt x="21969" y="42577"/>
                    <a:pt x="28543" y="42877"/>
                  </a:cubicBezTo>
                  <a:cubicBezTo>
                    <a:pt x="67655" y="44665"/>
                    <a:pt x="106026" y="31790"/>
                    <a:pt x="136143" y="6772"/>
                  </a:cubicBezTo>
                  <a:lnTo>
                    <a:pt x="139900" y="3558"/>
                  </a:lnTo>
                  <a:lnTo>
                    <a:pt x="141272" y="2486"/>
                  </a:lnTo>
                  <a:cubicBezTo>
                    <a:pt x="142236" y="1827"/>
                    <a:pt x="143277" y="1290"/>
                    <a:pt x="144372" y="886"/>
                  </a:cubicBezTo>
                  <a:lnTo>
                    <a:pt x="145972" y="400"/>
                  </a:lnTo>
                  <a:cubicBezTo>
                    <a:pt x="146532" y="265"/>
                    <a:pt x="147100" y="165"/>
                    <a:pt x="147673" y="100"/>
                  </a:cubicBezTo>
                  <a:lnTo>
                    <a:pt x="149316" y="0"/>
                  </a:lnTo>
                  <a:close/>
                  <a:moveTo>
                    <a:pt x="202322" y="104199"/>
                  </a:moveTo>
                  <a:cubicBezTo>
                    <a:pt x="199642" y="101516"/>
                    <a:pt x="196006" y="100008"/>
                    <a:pt x="192214" y="100008"/>
                  </a:cubicBezTo>
                  <a:cubicBezTo>
                    <a:pt x="188422" y="100008"/>
                    <a:pt x="184785" y="101516"/>
                    <a:pt x="182106" y="104199"/>
                  </a:cubicBezTo>
                  <a:lnTo>
                    <a:pt x="135057" y="151233"/>
                  </a:lnTo>
                  <a:lnTo>
                    <a:pt x="116583" y="132774"/>
                  </a:lnTo>
                  <a:lnTo>
                    <a:pt x="115240" y="131588"/>
                  </a:lnTo>
                  <a:cubicBezTo>
                    <a:pt x="109280" y="126980"/>
                    <a:pt x="100766" y="127791"/>
                    <a:pt x="95784" y="133441"/>
                  </a:cubicBezTo>
                  <a:cubicBezTo>
                    <a:pt x="90802" y="139092"/>
                    <a:pt x="91063" y="147640"/>
                    <a:pt x="96381" y="152976"/>
                  </a:cubicBezTo>
                  <a:lnTo>
                    <a:pt x="124956" y="181551"/>
                  </a:lnTo>
                  <a:lnTo>
                    <a:pt x="126299" y="182737"/>
                  </a:lnTo>
                  <a:cubicBezTo>
                    <a:pt x="131986" y="187149"/>
                    <a:pt x="140068" y="186641"/>
                    <a:pt x="145158" y="181551"/>
                  </a:cubicBezTo>
                  <a:lnTo>
                    <a:pt x="202308" y="124401"/>
                  </a:lnTo>
                  <a:lnTo>
                    <a:pt x="203494" y="123058"/>
                  </a:lnTo>
                  <a:cubicBezTo>
                    <a:pt x="207906" y="117371"/>
                    <a:pt x="207398" y="109289"/>
                    <a:pt x="202308" y="104199"/>
                  </a:cubicBezTo>
                  <a:close/>
                </a:path>
              </a:pathLst>
            </a:custGeom>
            <a:solidFill>
              <a:srgbClr val="0F766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191244" y="1732598"/>
              <a:ext cx="167361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设置最小权限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50580" y="2390775"/>
              <a:ext cx="2301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只绑定需要的分组、额度和</a:t>
              </a:r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有效期。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33400" y="3543300"/>
            <a:ext cx="3429000" cy="1809750"/>
            <a:chOff x="533400" y="3543300"/>
            <a:chExt cx="3429000" cy="1809750"/>
          </a:xfrm>
        </p:grpSpPr>
        <p:sp>
          <p:nvSpPr>
            <p:cNvPr id="26" name="Rectangle 26"/>
            <p:cNvSpPr/>
            <p:nvPr/>
          </p:nvSpPr>
          <p:spPr>
            <a:xfrm>
              <a:off x="533400" y="3543300"/>
              <a:ext cx="3429000" cy="180975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762000" y="3771900"/>
              <a:ext cx="552450" cy="552450"/>
            </a:xfrm>
            <a:prstGeom prst="roundRect">
              <a:avLst>
                <a:gd name="adj" fmla="val 24138"/>
              </a:avLst>
            </a:prstGeom>
            <a:solidFill>
              <a:srgbClr val="F4F8FA"/>
            </a:solidFill>
            <a:ln>
              <a:noFill/>
            </a:ln>
          </p:spPr>
        </p:sp>
        <p:sp>
          <p:nvSpPr>
            <p:cNvPr id="28" name="Freeform 28"/>
            <p:cNvSpPr/>
            <p:nvPr/>
          </p:nvSpPr>
          <p:spPr>
            <a:xfrm>
              <a:off x="895350" y="3905250"/>
              <a:ext cx="285744" cy="285750"/>
            </a:xfrm>
            <a:custGeom>
              <a:avLst/>
              <a:gdLst/>
              <a:ahLst/>
              <a:cxnLst/>
              <a:rect l="l" t="t" r="r" b="b"/>
              <a:pathLst>
                <a:path w="285744" h="285750">
                  <a:moveTo>
                    <a:pt x="178880" y="0"/>
                  </a:moveTo>
                  <a:cubicBezTo>
                    <a:pt x="193581" y="0"/>
                    <a:pt x="207669" y="5844"/>
                    <a:pt x="218056" y="16231"/>
                  </a:cubicBezTo>
                  <a:lnTo>
                    <a:pt x="269519" y="67694"/>
                  </a:lnTo>
                  <a:cubicBezTo>
                    <a:pt x="279908" y="78082"/>
                    <a:pt x="285744" y="92172"/>
                    <a:pt x="285744" y="106863"/>
                  </a:cubicBezTo>
                  <a:cubicBezTo>
                    <a:pt x="285744" y="121555"/>
                    <a:pt x="279908" y="135644"/>
                    <a:pt x="269519" y="146033"/>
                  </a:cubicBezTo>
                  <a:lnTo>
                    <a:pt x="231758" y="183794"/>
                  </a:lnTo>
                  <a:cubicBezTo>
                    <a:pt x="212857" y="202677"/>
                    <a:pt x="183176" y="205392"/>
                    <a:pt x="161163" y="190252"/>
                  </a:cubicBezTo>
                  <a:lnTo>
                    <a:pt x="159663" y="189138"/>
                  </a:lnTo>
                  <a:lnTo>
                    <a:pt x="75624" y="273191"/>
                  </a:lnTo>
                  <a:cubicBezTo>
                    <a:pt x="69120" y="279674"/>
                    <a:pt x="60705" y="283896"/>
                    <a:pt x="51621" y="285236"/>
                  </a:cubicBezTo>
                  <a:lnTo>
                    <a:pt x="48477" y="285621"/>
                  </a:lnTo>
                  <a:lnTo>
                    <a:pt x="45320" y="285750"/>
                  </a:lnTo>
                  <a:lnTo>
                    <a:pt x="28575" y="285750"/>
                  </a:lnTo>
                  <a:cubicBezTo>
                    <a:pt x="14087" y="285750"/>
                    <a:pt x="1900" y="274906"/>
                    <a:pt x="129" y="259704"/>
                  </a:cubicBezTo>
                  <a:lnTo>
                    <a:pt x="0" y="257175"/>
                  </a:lnTo>
                  <a:lnTo>
                    <a:pt x="0" y="240430"/>
                  </a:lnTo>
                  <a:cubicBezTo>
                    <a:pt x="0" y="230372"/>
                    <a:pt x="3543" y="220628"/>
                    <a:pt x="10430" y="212427"/>
                  </a:cubicBezTo>
                  <a:lnTo>
                    <a:pt x="12559" y="210126"/>
                  </a:lnTo>
                  <a:lnTo>
                    <a:pt x="18474" y="204211"/>
                  </a:lnTo>
                  <a:cubicBezTo>
                    <a:pt x="21153" y="201532"/>
                    <a:pt x="24786" y="200026"/>
                    <a:pt x="28575" y="200025"/>
                  </a:cubicBezTo>
                  <a:lnTo>
                    <a:pt x="42862" y="200025"/>
                  </a:lnTo>
                  <a:lnTo>
                    <a:pt x="42862" y="185738"/>
                  </a:lnTo>
                  <a:cubicBezTo>
                    <a:pt x="42863" y="178494"/>
                    <a:pt x="48285" y="172397"/>
                    <a:pt x="55478" y="171550"/>
                  </a:cubicBezTo>
                  <a:lnTo>
                    <a:pt x="57150" y="171450"/>
                  </a:lnTo>
                  <a:lnTo>
                    <a:pt x="71438" y="171450"/>
                  </a:lnTo>
                  <a:lnTo>
                    <a:pt x="71438" y="157162"/>
                  </a:lnTo>
                  <a:cubicBezTo>
                    <a:pt x="71437" y="154022"/>
                    <a:pt x="72472" y="150969"/>
                    <a:pt x="74381" y="148476"/>
                  </a:cubicBezTo>
                  <a:lnTo>
                    <a:pt x="75624" y="147047"/>
                  </a:lnTo>
                  <a:lnTo>
                    <a:pt x="96598" y="126059"/>
                  </a:lnTo>
                  <a:lnTo>
                    <a:pt x="95512" y="124587"/>
                  </a:lnTo>
                  <a:cubicBezTo>
                    <a:pt x="89807" y="116286"/>
                    <a:pt x="86460" y="106593"/>
                    <a:pt x="85825" y="96541"/>
                  </a:cubicBezTo>
                  <a:lnTo>
                    <a:pt x="85725" y="93169"/>
                  </a:lnTo>
                  <a:cubicBezTo>
                    <a:pt x="85725" y="78467"/>
                    <a:pt x="91569" y="64379"/>
                    <a:pt x="101956" y="53992"/>
                  </a:cubicBezTo>
                  <a:lnTo>
                    <a:pt x="139717" y="16231"/>
                  </a:lnTo>
                  <a:cubicBezTo>
                    <a:pt x="150106" y="5846"/>
                    <a:pt x="164191" y="8"/>
                    <a:pt x="178880" y="0"/>
                  </a:cubicBezTo>
                  <a:moveTo>
                    <a:pt x="185952" y="71438"/>
                  </a:moveTo>
                  <a:lnTo>
                    <a:pt x="185666" y="71438"/>
                  </a:lnTo>
                  <a:cubicBezTo>
                    <a:pt x="175457" y="71437"/>
                    <a:pt x="166024" y="76884"/>
                    <a:pt x="160919" y="85725"/>
                  </a:cubicBezTo>
                  <a:cubicBezTo>
                    <a:pt x="155815" y="94566"/>
                    <a:pt x="155815" y="105459"/>
                    <a:pt x="160919" y="114300"/>
                  </a:cubicBezTo>
                  <a:cubicBezTo>
                    <a:pt x="166024" y="123141"/>
                    <a:pt x="175457" y="128588"/>
                    <a:pt x="185666" y="128588"/>
                  </a:cubicBezTo>
                  <a:lnTo>
                    <a:pt x="185952" y="128588"/>
                  </a:lnTo>
                  <a:cubicBezTo>
                    <a:pt x="201733" y="128588"/>
                    <a:pt x="214527" y="115794"/>
                    <a:pt x="214527" y="100012"/>
                  </a:cubicBezTo>
                  <a:cubicBezTo>
                    <a:pt x="214527" y="84231"/>
                    <a:pt x="201733" y="71438"/>
                    <a:pt x="185952" y="71438"/>
                  </a:cubicBezTo>
                </a:path>
              </a:pathLst>
            </a:custGeom>
            <a:solidFill>
              <a:srgbClr val="D9770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495044" y="38471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及时轮换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4380" y="4505325"/>
              <a:ext cx="2301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人员、设备或部署环境变化</a:t>
              </a:r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后立即换新 Key。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381500" y="3543300"/>
            <a:ext cx="3429000" cy="1809750"/>
            <a:chOff x="4381500" y="3543300"/>
            <a:chExt cx="3429000" cy="1809750"/>
          </a:xfrm>
        </p:grpSpPr>
        <p:sp>
          <p:nvSpPr>
            <p:cNvPr id="32" name="Rectangle 32"/>
            <p:cNvSpPr/>
            <p:nvPr/>
          </p:nvSpPr>
          <p:spPr>
            <a:xfrm>
              <a:off x="4381500" y="3543300"/>
              <a:ext cx="3429000" cy="180975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4610100" y="3771900"/>
              <a:ext cx="552450" cy="552450"/>
            </a:xfrm>
            <a:prstGeom prst="roundRect">
              <a:avLst>
                <a:gd name="adj" fmla="val 24138"/>
              </a:avLst>
            </a:prstGeom>
            <a:solidFill>
              <a:srgbClr val="F4F8FA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4743450" y="3919527"/>
              <a:ext cx="285750" cy="257186"/>
            </a:xfrm>
            <a:custGeom>
              <a:avLst/>
              <a:gdLst/>
              <a:ahLst/>
              <a:cxnLst/>
              <a:rect l="l" t="t" r="r" b="b"/>
              <a:pathLst>
                <a:path w="285750" h="257186">
                  <a:moveTo>
                    <a:pt x="285750" y="28586"/>
                  </a:moveTo>
                  <a:cubicBezTo>
                    <a:pt x="285750" y="36476"/>
                    <a:pt x="279353" y="42873"/>
                    <a:pt x="271462" y="42873"/>
                  </a:cubicBezTo>
                  <a:lnTo>
                    <a:pt x="157162" y="42873"/>
                  </a:lnTo>
                  <a:cubicBezTo>
                    <a:pt x="149272" y="42873"/>
                    <a:pt x="142875" y="36476"/>
                    <a:pt x="142875" y="28586"/>
                  </a:cubicBezTo>
                  <a:cubicBezTo>
                    <a:pt x="142875" y="20695"/>
                    <a:pt x="149272" y="14298"/>
                    <a:pt x="157162" y="14298"/>
                  </a:cubicBezTo>
                  <a:lnTo>
                    <a:pt x="271462" y="14298"/>
                  </a:lnTo>
                  <a:cubicBezTo>
                    <a:pt x="279353" y="14298"/>
                    <a:pt x="285750" y="20695"/>
                    <a:pt x="285750" y="28586"/>
                  </a:cubicBezTo>
                  <a:moveTo>
                    <a:pt x="242888" y="85736"/>
                  </a:moveTo>
                  <a:cubicBezTo>
                    <a:pt x="242888" y="93626"/>
                    <a:pt x="236491" y="100023"/>
                    <a:pt x="228600" y="100023"/>
                  </a:cubicBezTo>
                  <a:lnTo>
                    <a:pt x="157162" y="100023"/>
                  </a:lnTo>
                  <a:cubicBezTo>
                    <a:pt x="149272" y="100023"/>
                    <a:pt x="142875" y="93626"/>
                    <a:pt x="142875" y="85736"/>
                  </a:cubicBezTo>
                  <a:cubicBezTo>
                    <a:pt x="142875" y="77845"/>
                    <a:pt x="149272" y="71448"/>
                    <a:pt x="157162" y="71448"/>
                  </a:cubicBezTo>
                  <a:lnTo>
                    <a:pt x="228600" y="71448"/>
                  </a:lnTo>
                  <a:cubicBezTo>
                    <a:pt x="236491" y="71448"/>
                    <a:pt x="242888" y="77845"/>
                    <a:pt x="242888" y="85736"/>
                  </a:cubicBezTo>
                  <a:moveTo>
                    <a:pt x="285750" y="171461"/>
                  </a:moveTo>
                  <a:cubicBezTo>
                    <a:pt x="285750" y="179351"/>
                    <a:pt x="279353" y="185748"/>
                    <a:pt x="271462" y="185748"/>
                  </a:cubicBezTo>
                  <a:lnTo>
                    <a:pt x="157162" y="185748"/>
                  </a:lnTo>
                  <a:cubicBezTo>
                    <a:pt x="149272" y="185748"/>
                    <a:pt x="142875" y="179351"/>
                    <a:pt x="142875" y="171461"/>
                  </a:cubicBezTo>
                  <a:cubicBezTo>
                    <a:pt x="142875" y="163570"/>
                    <a:pt x="149272" y="157173"/>
                    <a:pt x="157162" y="157173"/>
                  </a:cubicBezTo>
                  <a:lnTo>
                    <a:pt x="271462" y="157173"/>
                  </a:lnTo>
                  <a:cubicBezTo>
                    <a:pt x="279353" y="157173"/>
                    <a:pt x="285750" y="163570"/>
                    <a:pt x="285750" y="171461"/>
                  </a:cubicBezTo>
                  <a:moveTo>
                    <a:pt x="242888" y="228611"/>
                  </a:moveTo>
                  <a:cubicBezTo>
                    <a:pt x="242888" y="236501"/>
                    <a:pt x="236491" y="242898"/>
                    <a:pt x="228600" y="242898"/>
                  </a:cubicBezTo>
                  <a:lnTo>
                    <a:pt x="157162" y="242898"/>
                  </a:lnTo>
                  <a:cubicBezTo>
                    <a:pt x="149272" y="242898"/>
                    <a:pt x="142875" y="236501"/>
                    <a:pt x="142875" y="228611"/>
                  </a:cubicBezTo>
                  <a:cubicBezTo>
                    <a:pt x="142875" y="220720"/>
                    <a:pt x="149272" y="214323"/>
                    <a:pt x="157162" y="214323"/>
                  </a:cubicBezTo>
                  <a:lnTo>
                    <a:pt x="228600" y="214323"/>
                  </a:lnTo>
                  <a:cubicBezTo>
                    <a:pt x="236491" y="214323"/>
                    <a:pt x="242888" y="220720"/>
                    <a:pt x="242888" y="228611"/>
                  </a:cubicBezTo>
                  <a:moveTo>
                    <a:pt x="85725" y="11"/>
                  </a:moveTo>
                  <a:cubicBezTo>
                    <a:pt x="101507" y="11"/>
                    <a:pt x="114300" y="12804"/>
                    <a:pt x="114300" y="28586"/>
                  </a:cubicBezTo>
                  <a:lnTo>
                    <a:pt x="114300" y="85736"/>
                  </a:lnTo>
                  <a:cubicBezTo>
                    <a:pt x="114300" y="101517"/>
                    <a:pt x="101507" y="114311"/>
                    <a:pt x="85725" y="114311"/>
                  </a:cubicBezTo>
                  <a:lnTo>
                    <a:pt x="28575" y="114311"/>
                  </a:lnTo>
                  <a:cubicBezTo>
                    <a:pt x="12793" y="114311"/>
                    <a:pt x="0" y="101517"/>
                    <a:pt x="0" y="85736"/>
                  </a:cubicBezTo>
                  <a:lnTo>
                    <a:pt x="14" y="27857"/>
                  </a:lnTo>
                  <a:lnTo>
                    <a:pt x="71" y="27128"/>
                  </a:lnTo>
                  <a:cubicBezTo>
                    <a:pt x="818" y="11933"/>
                    <a:pt x="13362" y="0"/>
                    <a:pt x="28575" y="11"/>
                  </a:cubicBezTo>
                  <a:close/>
                  <a:moveTo>
                    <a:pt x="85725" y="142886"/>
                  </a:moveTo>
                  <a:cubicBezTo>
                    <a:pt x="101507" y="142886"/>
                    <a:pt x="114300" y="155679"/>
                    <a:pt x="114300" y="171461"/>
                  </a:cubicBezTo>
                  <a:lnTo>
                    <a:pt x="114300" y="228611"/>
                  </a:lnTo>
                  <a:cubicBezTo>
                    <a:pt x="114300" y="244392"/>
                    <a:pt x="101507" y="257186"/>
                    <a:pt x="85725" y="257186"/>
                  </a:cubicBezTo>
                  <a:lnTo>
                    <a:pt x="28575" y="257186"/>
                  </a:lnTo>
                  <a:cubicBezTo>
                    <a:pt x="12793" y="257186"/>
                    <a:pt x="0" y="244392"/>
                    <a:pt x="0" y="228611"/>
                  </a:cubicBezTo>
                  <a:lnTo>
                    <a:pt x="14" y="170732"/>
                  </a:lnTo>
                  <a:lnTo>
                    <a:pt x="71" y="170003"/>
                  </a:lnTo>
                  <a:cubicBezTo>
                    <a:pt x="818" y="154808"/>
                    <a:pt x="13362" y="142875"/>
                    <a:pt x="28575" y="142886"/>
                  </a:cubicBezTo>
                  <a:close/>
                </a:path>
              </a:pathLst>
            </a:custGeom>
            <a:solidFill>
              <a:srgbClr val="2563E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343144" y="3847148"/>
              <a:ext cx="151967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保留请求 ID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602480" y="4505325"/>
              <a:ext cx="2301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提交问题时给时间、模型、</a:t>
              </a:r>
              <a:r>
                <a:rPr lang="zh-CN" sz="15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状态码和请求 ID。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8229600" y="3543300"/>
            <a:ext cx="3429000" cy="1809750"/>
            <a:chOff x="8229600" y="3543300"/>
            <a:chExt cx="3429000" cy="1809750"/>
          </a:xfrm>
        </p:grpSpPr>
        <p:sp>
          <p:nvSpPr>
            <p:cNvPr id="38" name="Rectangle 38"/>
            <p:cNvSpPr/>
            <p:nvPr/>
          </p:nvSpPr>
          <p:spPr>
            <a:xfrm>
              <a:off x="8229600" y="3543300"/>
              <a:ext cx="3429000" cy="1809750"/>
            </a:xfrm>
            <a:prstGeom prst="roundRect">
              <a:avLst>
                <a:gd name="adj" fmla="val 7368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8458200" y="3771900"/>
              <a:ext cx="55245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8590568" y="3905621"/>
              <a:ext cx="287694" cy="284993"/>
              <a:chOff x="8590568" y="3905621"/>
              <a:chExt cx="287694" cy="28499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8744869" y="4105275"/>
                <a:ext cx="120501" cy="85339"/>
              </a:xfrm>
              <a:custGeom>
                <a:avLst/>
                <a:gdLst/>
                <a:ahLst/>
                <a:cxnLst/>
                <a:rect l="l" t="t" r="r" b="b"/>
                <a:pathLst>
                  <a:path w="120501" h="85339">
                    <a:moveTo>
                      <a:pt x="120501" y="0"/>
                    </a:moveTo>
                    <a:cubicBezTo>
                      <a:pt x="99286" y="48606"/>
                      <a:pt x="52893" y="81462"/>
                      <a:pt x="0" y="85339"/>
                    </a:cubicBezTo>
                    <a:cubicBezTo>
                      <a:pt x="3659" y="84467"/>
                      <a:pt x="6826" y="82188"/>
                      <a:pt x="8815" y="78996"/>
                    </a:cubicBezTo>
                    <a:cubicBezTo>
                      <a:pt x="24002" y="54669"/>
                      <a:pt x="35012" y="27973"/>
                      <a:pt x="41391" y="14"/>
                    </a:cubicBezTo>
                    <a:close/>
                  </a:path>
                </a:pathLst>
              </a:custGeom>
              <a:solidFill>
                <a:srgbClr val="0F766E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603480" y="4105275"/>
                <a:ext cx="120486" cy="85339"/>
              </a:xfrm>
              <a:custGeom>
                <a:avLst/>
                <a:gdLst/>
                <a:ahLst/>
                <a:cxnLst/>
                <a:rect l="l" t="t" r="r" b="b"/>
                <a:pathLst>
                  <a:path w="120486" h="85339">
                    <a:moveTo>
                      <a:pt x="79110" y="0"/>
                    </a:moveTo>
                    <a:cubicBezTo>
                      <a:pt x="85486" y="27969"/>
                      <a:pt x="96496" y="54674"/>
                      <a:pt x="111685" y="79010"/>
                    </a:cubicBezTo>
                    <a:cubicBezTo>
                      <a:pt x="113674" y="82194"/>
                      <a:pt x="116835" y="84468"/>
                      <a:pt x="120486" y="85339"/>
                    </a:cubicBezTo>
                    <a:cubicBezTo>
                      <a:pt x="67599" y="81457"/>
                      <a:pt x="21213" y="48602"/>
                      <a:pt x="0" y="0"/>
                    </a:cubicBezTo>
                    <a:close/>
                  </a:path>
                </a:pathLst>
              </a:custGeom>
              <a:solidFill>
                <a:srgbClr val="0F766E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711994" y="4105275"/>
                <a:ext cx="44863" cy="55493"/>
              </a:xfrm>
              <a:custGeom>
                <a:avLst/>
                <a:gdLst/>
                <a:ahLst/>
                <a:cxnLst/>
                <a:rect l="l" t="t" r="r" b="b"/>
                <a:pathLst>
                  <a:path w="44863" h="55493">
                    <a:moveTo>
                      <a:pt x="44863" y="0"/>
                    </a:moveTo>
                    <a:cubicBezTo>
                      <a:pt x="39850" y="19401"/>
                      <a:pt x="32308" y="38058"/>
                      <a:pt x="22431" y="55493"/>
                    </a:cubicBezTo>
                    <a:cubicBezTo>
                      <a:pt x="12554" y="38058"/>
                      <a:pt x="5013" y="19401"/>
                      <a:pt x="0" y="0"/>
                    </a:cubicBezTo>
                  </a:path>
                </a:pathLst>
              </a:custGeom>
              <a:solidFill>
                <a:srgbClr val="0F766E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590568" y="4019550"/>
                <a:ext cx="87193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7193" h="57150">
                    <a:moveTo>
                      <a:pt x="87193" y="0"/>
                    </a:moveTo>
                    <a:cubicBezTo>
                      <a:pt x="85069" y="18991"/>
                      <a:pt x="85069" y="38159"/>
                      <a:pt x="87193" y="57150"/>
                    </a:cubicBezTo>
                    <a:lnTo>
                      <a:pt x="3868" y="57150"/>
                    </a:lnTo>
                    <a:cubicBezTo>
                      <a:pt x="10" y="38296"/>
                      <a:pt x="0" y="18858"/>
                      <a:pt x="3839" y="0"/>
                    </a:cubicBezTo>
                    <a:close/>
                  </a:path>
                </a:pathLst>
              </a:custGeom>
              <a:solidFill>
                <a:srgbClr val="0F766E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704145" y="4019550"/>
                <a:ext cx="6056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60560" h="57150">
                    <a:moveTo>
                      <a:pt x="58169" y="0"/>
                    </a:moveTo>
                    <a:cubicBezTo>
                      <a:pt x="60560" y="18975"/>
                      <a:pt x="60560" y="38175"/>
                      <a:pt x="58169" y="57150"/>
                    </a:cubicBezTo>
                    <a:lnTo>
                      <a:pt x="2391" y="57150"/>
                    </a:lnTo>
                    <a:cubicBezTo>
                      <a:pt x="0" y="38175"/>
                      <a:pt x="0" y="18975"/>
                      <a:pt x="2391" y="0"/>
                    </a:cubicBezTo>
                    <a:close/>
                  </a:path>
                </a:pathLst>
              </a:custGeom>
              <a:solidFill>
                <a:srgbClr val="0F766E"/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91089" y="4019550"/>
                <a:ext cx="87173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7173" h="57150">
                    <a:moveTo>
                      <a:pt x="83353" y="0"/>
                    </a:moveTo>
                    <a:cubicBezTo>
                      <a:pt x="87173" y="18859"/>
                      <a:pt x="87163" y="38294"/>
                      <a:pt x="83325" y="57150"/>
                    </a:cubicBezTo>
                    <a:lnTo>
                      <a:pt x="0" y="57150"/>
                    </a:lnTo>
                    <a:cubicBezTo>
                      <a:pt x="2129" y="38162"/>
                      <a:pt x="2129" y="19002"/>
                      <a:pt x="0" y="0"/>
                    </a:cubicBezTo>
                    <a:close/>
                  </a:path>
                </a:pathLst>
              </a:custGeom>
              <a:solidFill>
                <a:srgbClr val="0F766E"/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603437" y="3905636"/>
                <a:ext cx="120515" cy="85339"/>
              </a:xfrm>
              <a:custGeom>
                <a:avLst/>
                <a:gdLst/>
                <a:ahLst/>
                <a:cxnLst/>
                <a:rect l="l" t="t" r="r" b="b"/>
                <a:pathLst>
                  <a:path w="120515" h="85339">
                    <a:moveTo>
                      <a:pt x="120515" y="0"/>
                    </a:moveTo>
                    <a:cubicBezTo>
                      <a:pt x="116867" y="879"/>
                      <a:pt x="113710" y="3157"/>
                      <a:pt x="111728" y="6344"/>
                    </a:cubicBezTo>
                    <a:cubicBezTo>
                      <a:pt x="96541" y="30675"/>
                      <a:pt x="85530" y="57375"/>
                      <a:pt x="79153" y="85339"/>
                    </a:cubicBezTo>
                    <a:lnTo>
                      <a:pt x="0" y="85339"/>
                    </a:lnTo>
                    <a:cubicBezTo>
                      <a:pt x="21027" y="37215"/>
                      <a:pt x="66739" y="4486"/>
                      <a:pt x="119072" y="86"/>
                    </a:cubicBezTo>
                    <a:close/>
                  </a:path>
                </a:pathLst>
              </a:custGeom>
              <a:solidFill>
                <a:srgbClr val="0F766E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711994" y="3935482"/>
                <a:ext cx="44863" cy="55507"/>
              </a:xfrm>
              <a:custGeom>
                <a:avLst/>
                <a:gdLst/>
                <a:ahLst/>
                <a:cxnLst/>
                <a:rect l="l" t="t" r="r" b="b"/>
                <a:pathLst>
                  <a:path w="44863" h="55507">
                    <a:moveTo>
                      <a:pt x="22431" y="0"/>
                    </a:moveTo>
                    <a:cubicBezTo>
                      <a:pt x="32309" y="17439"/>
                      <a:pt x="39851" y="36101"/>
                      <a:pt x="44863" y="55507"/>
                    </a:cubicBezTo>
                    <a:lnTo>
                      <a:pt x="0" y="55507"/>
                    </a:lnTo>
                    <a:cubicBezTo>
                      <a:pt x="4858" y="36690"/>
                      <a:pt x="12144" y="18359"/>
                      <a:pt x="21860" y="972"/>
                    </a:cubicBezTo>
                    <a:close/>
                  </a:path>
                </a:pathLst>
              </a:custGeom>
              <a:solidFill>
                <a:srgbClr val="0F766E"/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744898" y="3905621"/>
                <a:ext cx="120515" cy="85354"/>
              </a:xfrm>
              <a:custGeom>
                <a:avLst/>
                <a:gdLst/>
                <a:ahLst/>
                <a:cxnLst/>
                <a:rect l="l" t="t" r="r" b="b"/>
                <a:pathLst>
                  <a:path w="120515" h="85354">
                    <a:moveTo>
                      <a:pt x="0" y="0"/>
                    </a:moveTo>
                    <a:cubicBezTo>
                      <a:pt x="52890" y="3906"/>
                      <a:pt x="99276" y="36758"/>
                      <a:pt x="120515" y="85354"/>
                    </a:cubicBezTo>
                    <a:lnTo>
                      <a:pt x="41362" y="85354"/>
                    </a:lnTo>
                    <a:cubicBezTo>
                      <a:pt x="34986" y="57384"/>
                      <a:pt x="23976" y="30679"/>
                      <a:pt x="8787" y="6344"/>
                    </a:cubicBezTo>
                    <a:cubicBezTo>
                      <a:pt x="7068" y="3590"/>
                      <a:pt x="4463" y="1504"/>
                      <a:pt x="1400" y="429"/>
                    </a:cubicBezTo>
                    <a:close/>
                  </a:path>
                </a:pathLst>
              </a:custGeom>
              <a:solidFill>
                <a:srgbClr val="0F766E"/>
              </a:solidFill>
              <a:ln>
                <a:noFill/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9191244" y="3847148"/>
              <a:ext cx="14905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只用 HTTPS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50580" y="4505325"/>
              <a:ext cx="2301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确认域名和证书，不向陌生</a:t>
              </a:r>
              <a:r>
                <a:rPr lang="zh-CN" sz="15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代理提交 Authorization。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33400" y="5638800"/>
            <a:ext cx="11125200" cy="552450"/>
            <a:chOff x="533400" y="5638800"/>
            <a:chExt cx="11125200" cy="552450"/>
          </a:xfrm>
        </p:grpSpPr>
        <p:sp>
          <p:nvSpPr>
            <p:cNvPr id="53" name="Rectangle 53"/>
            <p:cNvSpPr/>
            <p:nvPr/>
          </p:nvSpPr>
          <p:spPr>
            <a:xfrm>
              <a:off x="533400" y="5638800"/>
              <a:ext cx="11125200" cy="55245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19050">
              <a:solidFill>
                <a:srgbClr val="E11D48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755213" y="5767435"/>
              <a:ext cx="318208" cy="276120"/>
            </a:xfrm>
            <a:custGeom>
              <a:avLst/>
              <a:gdLst/>
              <a:ahLst/>
              <a:cxnLst/>
              <a:rect l="l" t="t" r="r" b="b"/>
              <a:pathLst>
                <a:path w="318208" h="276120">
                  <a:moveTo>
                    <a:pt x="159187" y="0"/>
                  </a:moveTo>
                  <a:cubicBezTo>
                    <a:pt x="172832" y="0"/>
                    <a:pt x="185547" y="6672"/>
                    <a:pt x="193334" y="17817"/>
                  </a:cubicBezTo>
                  <a:lnTo>
                    <a:pt x="194834" y="20103"/>
                  </a:lnTo>
                  <a:lnTo>
                    <a:pt x="310763" y="213670"/>
                  </a:lnTo>
                  <a:cubicBezTo>
                    <a:pt x="317925" y="226073"/>
                    <a:pt x="318208" y="241287"/>
                    <a:pt x="311513" y="253949"/>
                  </a:cubicBezTo>
                  <a:cubicBezTo>
                    <a:pt x="304818" y="266610"/>
                    <a:pt x="292085" y="274941"/>
                    <a:pt x="277802" y="276006"/>
                  </a:cubicBezTo>
                  <a:lnTo>
                    <a:pt x="275016" y="276120"/>
                  </a:lnTo>
                  <a:lnTo>
                    <a:pt x="43201" y="276120"/>
                  </a:lnTo>
                  <a:cubicBezTo>
                    <a:pt x="28904" y="275959"/>
                    <a:pt x="15690" y="268473"/>
                    <a:pt x="8202" y="256293"/>
                  </a:cubicBezTo>
                  <a:cubicBezTo>
                    <a:pt x="714" y="244113"/>
                    <a:pt x="0" y="228942"/>
                    <a:pt x="6311" y="216113"/>
                  </a:cubicBezTo>
                  <a:lnTo>
                    <a:pt x="7725" y="213470"/>
                  </a:lnTo>
                  <a:lnTo>
                    <a:pt x="123597" y="20045"/>
                  </a:lnTo>
                  <a:cubicBezTo>
                    <a:pt x="131142" y="7603"/>
                    <a:pt x="144636" y="3"/>
                    <a:pt x="159187" y="0"/>
                  </a:cubicBezTo>
                  <a:close/>
                  <a:moveTo>
                    <a:pt x="159330" y="190452"/>
                  </a:moveTo>
                  <a:lnTo>
                    <a:pt x="157515" y="190552"/>
                  </a:lnTo>
                  <a:cubicBezTo>
                    <a:pt x="150328" y="191407"/>
                    <a:pt x="144915" y="197502"/>
                    <a:pt x="144915" y="204740"/>
                  </a:cubicBezTo>
                  <a:cubicBezTo>
                    <a:pt x="144915" y="211978"/>
                    <a:pt x="150328" y="218072"/>
                    <a:pt x="157515" y="218927"/>
                  </a:cubicBezTo>
                  <a:lnTo>
                    <a:pt x="159187" y="219027"/>
                  </a:lnTo>
                  <a:lnTo>
                    <a:pt x="161002" y="218927"/>
                  </a:lnTo>
                  <a:cubicBezTo>
                    <a:pt x="168189" y="218072"/>
                    <a:pt x="173601" y="211978"/>
                    <a:pt x="173601" y="204740"/>
                  </a:cubicBezTo>
                  <a:cubicBezTo>
                    <a:pt x="173601" y="197502"/>
                    <a:pt x="168189" y="191407"/>
                    <a:pt x="161002" y="190552"/>
                  </a:cubicBezTo>
                  <a:lnTo>
                    <a:pt x="159330" y="190452"/>
                  </a:lnTo>
                  <a:close/>
                  <a:moveTo>
                    <a:pt x="159187" y="90440"/>
                  </a:moveTo>
                  <a:cubicBezTo>
                    <a:pt x="151944" y="90441"/>
                    <a:pt x="145847" y="95862"/>
                    <a:pt x="145000" y="103056"/>
                  </a:cubicBezTo>
                  <a:lnTo>
                    <a:pt x="144900" y="104727"/>
                  </a:lnTo>
                  <a:lnTo>
                    <a:pt x="144900" y="161877"/>
                  </a:lnTo>
                  <a:lnTo>
                    <a:pt x="145000" y="163549"/>
                  </a:lnTo>
                  <a:cubicBezTo>
                    <a:pt x="145854" y="170736"/>
                    <a:pt x="151949" y="176149"/>
                    <a:pt x="159187" y="176149"/>
                  </a:cubicBezTo>
                  <a:cubicBezTo>
                    <a:pt x="166425" y="176149"/>
                    <a:pt x="172520" y="170736"/>
                    <a:pt x="173375" y="163549"/>
                  </a:cubicBezTo>
                  <a:lnTo>
                    <a:pt x="173475" y="161877"/>
                  </a:lnTo>
                  <a:lnTo>
                    <a:pt x="173475" y="104727"/>
                  </a:lnTo>
                  <a:lnTo>
                    <a:pt x="173375" y="103056"/>
                  </a:lnTo>
                  <a:cubicBezTo>
                    <a:pt x="172527" y="95862"/>
                    <a:pt x="166430" y="90441"/>
                    <a:pt x="159187" y="90440"/>
                  </a:cubicBezTo>
                  <a:close/>
                </a:path>
              </a:pathLst>
            </a:custGeom>
            <a:solidFill>
              <a:srgbClr val="E11D4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230630" y="5829300"/>
              <a:ext cx="70145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怀疑泄露：先禁用旧 Key → 新建并替换 → 检查用量记录 → 排查公开位置。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28066" y="6477952"/>
            <a:ext cx="11135868" cy="205359"/>
            <a:chOff x="528066" y="6477952"/>
            <a:chExt cx="11135868" cy="205359"/>
          </a:xfrm>
        </p:grpSpPr>
        <p:sp>
          <p:nvSpPr>
            <p:cNvPr id="57" name="TextBox 57"/>
            <p:cNvSpPr txBox="1"/>
            <p:nvPr/>
          </p:nvSpPr>
          <p:spPr>
            <a:xfrm>
              <a:off x="528066" y="647795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安全习惯清单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497780" y="64779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266700" cy="6858000"/>
            </a:xfrm>
            <a:prstGeom prst="rect">
              <a:avLst/>
            </a:prstGeom>
            <a:solidFill>
              <a:srgbClr val="0F766E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94360" y="304800"/>
            <a:ext cx="5543169" cy="862584"/>
            <a:chOff x="594360" y="304800"/>
            <a:chExt cx="5543169" cy="862584"/>
          </a:xfrm>
        </p:grpSpPr>
        <p:sp>
          <p:nvSpPr>
            <p:cNvPr id="5" name="TextBox 5"/>
            <p:cNvSpPr txBox="1"/>
            <p:nvPr/>
          </p:nvSpPr>
          <p:spPr>
            <a:xfrm>
              <a:off x="594360" y="304800"/>
              <a:ext cx="554316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第一次使用完成后的六项核对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815340"/>
              <a:ext cx="413766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六项全部可验证，才算真正完成接入。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71600" y="2095500"/>
            <a:ext cx="2743201" cy="2400300"/>
            <a:chOff x="1371600" y="2095500"/>
            <a:chExt cx="2743201" cy="2400300"/>
          </a:xfrm>
        </p:grpSpPr>
        <p:sp>
          <p:nvSpPr>
            <p:cNvPr id="8" name="Line 8"/>
            <p:cNvSpPr/>
            <p:nvPr/>
          </p:nvSpPr>
          <p:spPr>
            <a:xfrm>
              <a:off x="1371600" y="2095500"/>
              <a:ext cx="1" cy="609600"/>
            </a:xfrm>
            <a:prstGeom prst="line">
              <a:avLst/>
            </a:prstGeom>
            <a:noFill/>
            <a:ln w="28575">
              <a:solidFill>
                <a:srgbClr val="CBD5E1"/>
              </a:solidFill>
              <a:tailEnd type="triangle" w="lg" len="lg"/>
            </a:ln>
          </p:spPr>
        </p:sp>
        <p:sp>
          <p:nvSpPr>
            <p:cNvPr id="9" name="Line 9"/>
            <p:cNvSpPr/>
            <p:nvPr/>
          </p:nvSpPr>
          <p:spPr>
            <a:xfrm>
              <a:off x="1371600" y="3295650"/>
              <a:ext cx="1" cy="609600"/>
            </a:xfrm>
            <a:prstGeom prst="line">
              <a:avLst/>
            </a:prstGeom>
            <a:noFill/>
            <a:ln w="28575">
              <a:solidFill>
                <a:srgbClr val="CBD5E1"/>
              </a:solidFill>
              <a:tailEnd type="triangle" w="lg" len="lg"/>
            </a:ln>
          </p:spPr>
        </p:sp>
        <p:sp>
          <p:nvSpPr>
            <p:cNvPr id="10" name="Line 10"/>
            <p:cNvSpPr/>
            <p:nvPr/>
          </p:nvSpPr>
          <p:spPr>
            <a:xfrm flipV="1">
              <a:off x="1371600" y="2095500"/>
              <a:ext cx="2743200" cy="2400300"/>
            </a:xfrm>
            <a:prstGeom prst="line">
              <a:avLst/>
            </a:prstGeom>
            <a:noFill/>
            <a:ln w="28575">
              <a:solidFill>
                <a:srgbClr val="CBD5E1"/>
              </a:solidFill>
              <a:custDash>
                <a:ds d="200000" sp="166666"/>
              </a:custDash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>
              <a:off x="4114800" y="2095500"/>
              <a:ext cx="1" cy="609600"/>
            </a:xfrm>
            <a:prstGeom prst="line">
              <a:avLst/>
            </a:prstGeom>
            <a:noFill/>
            <a:ln w="28575">
              <a:solidFill>
                <a:srgbClr val="CBD5E1"/>
              </a:solidFill>
              <a:tailEnd type="triangle" w="lg" len="lg"/>
            </a:ln>
          </p:spPr>
        </p:sp>
        <p:sp>
          <p:nvSpPr>
            <p:cNvPr id="12" name="Line 12"/>
            <p:cNvSpPr/>
            <p:nvPr/>
          </p:nvSpPr>
          <p:spPr>
            <a:xfrm>
              <a:off x="4114800" y="3295650"/>
              <a:ext cx="1" cy="609600"/>
            </a:xfrm>
            <a:prstGeom prst="line">
              <a:avLst/>
            </a:prstGeom>
            <a:noFill/>
            <a:ln w="28575">
              <a:solidFill>
                <a:srgbClr val="CBD5E1"/>
              </a:solidFill>
              <a:tailEnd type="triangle" w="lg" len="lg"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085850" y="1524000"/>
            <a:ext cx="1737360" cy="619506"/>
            <a:chOff x="1085850" y="1524000"/>
            <a:chExt cx="1737360" cy="619506"/>
          </a:xfrm>
        </p:grpSpPr>
        <p:sp>
          <p:nvSpPr>
            <p:cNvPr id="14" name="Ellipse 14"/>
            <p:cNvSpPr/>
            <p:nvPr/>
          </p:nvSpPr>
          <p:spPr>
            <a:xfrm>
              <a:off x="1085850" y="1524000"/>
              <a:ext cx="571500" cy="571500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47365" y="17335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40230" y="160972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账号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41754" y="190881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可登录控制台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85850" y="2724150"/>
            <a:ext cx="1898904" cy="619506"/>
            <a:chOff x="1085850" y="2724150"/>
            <a:chExt cx="1898904" cy="619506"/>
          </a:xfrm>
        </p:grpSpPr>
        <p:sp>
          <p:nvSpPr>
            <p:cNvPr id="19" name="Ellipse 19"/>
            <p:cNvSpPr/>
            <p:nvPr/>
          </p:nvSpPr>
          <p:spPr>
            <a:xfrm>
              <a:off x="1085850" y="2724150"/>
              <a:ext cx="571500" cy="571500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47365" y="29337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40230" y="2809875"/>
              <a:ext cx="3716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F172A"/>
                  </a:solidFill>
                  <a:latin typeface="Arial"/>
                  <a:ea typeface="Arial"/>
                  <a:cs typeface="Arial"/>
                </a:rPr>
                <a:t>Key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841754" y="31089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活跃并绑定分组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85850" y="3924300"/>
            <a:ext cx="2060448" cy="619506"/>
            <a:chOff x="1085850" y="3924300"/>
            <a:chExt cx="2060448" cy="619506"/>
          </a:xfrm>
        </p:grpSpPr>
        <p:sp>
          <p:nvSpPr>
            <p:cNvPr id="24" name="Ellipse 24"/>
            <p:cNvSpPr/>
            <p:nvPr/>
          </p:nvSpPr>
          <p:spPr>
            <a:xfrm>
              <a:off x="1085850" y="3924300"/>
              <a:ext cx="571500" cy="571500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247365" y="41338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40230" y="401002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模型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41754" y="43091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名称与能力已核对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829050" y="1524000"/>
            <a:ext cx="2125066" cy="619506"/>
            <a:chOff x="3829050" y="1524000"/>
            <a:chExt cx="2125066" cy="619506"/>
          </a:xfrm>
        </p:grpSpPr>
        <p:sp>
          <p:nvSpPr>
            <p:cNvPr id="29" name="Ellipse 29"/>
            <p:cNvSpPr/>
            <p:nvPr/>
          </p:nvSpPr>
          <p:spPr>
            <a:xfrm>
              <a:off x="3829050" y="1524000"/>
              <a:ext cx="571500" cy="571500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990565" y="17335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83430" y="160972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请求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84954" y="190881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返回 200 与 JSON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3829050" y="2724150"/>
            <a:ext cx="2060448" cy="619506"/>
            <a:chOff x="3829050" y="2724150"/>
            <a:chExt cx="2060448" cy="619506"/>
          </a:xfrm>
        </p:grpSpPr>
        <p:sp>
          <p:nvSpPr>
            <p:cNvPr id="34" name="Ellipse 34"/>
            <p:cNvSpPr/>
            <p:nvPr/>
          </p:nvSpPr>
          <p:spPr>
            <a:xfrm>
              <a:off x="3829050" y="2724150"/>
              <a:ext cx="571500" cy="571500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990565" y="293370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83430" y="280987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用量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84954" y="31089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能核对模型和费用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829050" y="3924300"/>
            <a:ext cx="1682496" cy="810006"/>
            <a:chOff x="3829050" y="3924300"/>
            <a:chExt cx="1682496" cy="810006"/>
          </a:xfrm>
        </p:grpSpPr>
        <p:sp>
          <p:nvSpPr>
            <p:cNvPr id="39" name="Ellipse 39"/>
            <p:cNvSpPr/>
            <p:nvPr/>
          </p:nvSpPr>
          <p:spPr>
            <a:xfrm>
              <a:off x="3829050" y="3924300"/>
              <a:ext cx="571500" cy="571500"/>
            </a:xfrm>
            <a:prstGeom prst="ellipse">
              <a:avLst/>
            </a:prstGeom>
            <a:solidFill>
              <a:srgbClr val="059669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990565" y="4133850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06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83430" y="4010025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F172A"/>
                  </a:solidFill>
                  <a:latin typeface="Arial"/>
                  <a:ea typeface="Microsoft YaHei"/>
                  <a:cs typeface="Arial"/>
                </a:rPr>
                <a:t>排错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84954" y="4271010"/>
              <a:ext cx="926592" cy="4632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00"/>
                </a:lnSpc>
              </a:pPr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时间与状态码</a:t>
              </a:r>
              <a:r>
                <a:rPr lang="zh-CN" sz="12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请求 ID 齐全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981700" y="1543050"/>
            <a:ext cx="5753100" cy="3657600"/>
            <a:chOff x="5981700" y="1543050"/>
            <a:chExt cx="5753100" cy="3657600"/>
          </a:xfrm>
        </p:grpSpPr>
        <p:sp>
          <p:nvSpPr>
            <p:cNvPr id="44" name="Rectangle 44"/>
            <p:cNvSpPr/>
            <p:nvPr/>
          </p:nvSpPr>
          <p:spPr>
            <a:xfrm>
              <a:off x="5981700" y="1543050"/>
              <a:ext cx="5753100" cy="3657600"/>
            </a:xfrm>
            <a:prstGeom prst="roundRect">
              <a:avLst>
                <a:gd name="adj" fmla="val 3646"/>
              </a:avLst>
            </a:prstGeom>
            <a:solidFill>
              <a:srgbClr val="FFFFFF"/>
            </a:solidFill>
            <a:ln w="19050">
              <a:solidFill>
                <a:srgbClr val="CBD5E1"/>
              </a:solidFill>
            </a:ln>
          </p:spPr>
        </p:sp>
        <p:pic>
          <p:nvPicPr>
            <p:cNvPr id="45" name="Image 4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57900" y="1619250"/>
              <a:ext cx="5600700" cy="3505200"/>
            </a:xfrm>
            <a:prstGeom prst="roundRect">
              <a:avLst>
                <a:gd name="adj" fmla="val 3260"/>
              </a:avLst>
            </a:prstGeom>
          </p:spPr>
        </p:pic>
        <p:sp>
          <p:nvSpPr>
            <p:cNvPr id="46" name="Ellipse 46"/>
            <p:cNvSpPr/>
            <p:nvPr/>
          </p:nvSpPr>
          <p:spPr>
            <a:xfrm>
              <a:off x="7105650" y="2209800"/>
              <a:ext cx="419100" cy="4191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249273" y="23336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1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8877300" y="3276600"/>
              <a:ext cx="419100" cy="4191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9020923" y="34004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2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10820400" y="1752600"/>
              <a:ext cx="419100" cy="419100"/>
            </a:xfrm>
            <a:prstGeom prst="ellipse">
              <a:avLst/>
            </a:prstGeom>
            <a:solidFill>
              <a:srgbClr val="E11D4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964023" y="1876425"/>
              <a:ext cx="131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3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09600" y="5314950"/>
            <a:ext cx="11049000" cy="819150"/>
            <a:chOff x="609600" y="5314950"/>
            <a:chExt cx="11049000" cy="819150"/>
          </a:xfrm>
        </p:grpSpPr>
        <p:sp>
          <p:nvSpPr>
            <p:cNvPr id="53" name="Rectangle 53"/>
            <p:cNvSpPr/>
            <p:nvPr/>
          </p:nvSpPr>
          <p:spPr>
            <a:xfrm>
              <a:off x="609600" y="5314950"/>
              <a:ext cx="11049000" cy="819150"/>
            </a:xfrm>
            <a:prstGeom prst="roundRect">
              <a:avLst>
                <a:gd name="adj" fmla="val 16279"/>
              </a:avLst>
            </a:prstGeom>
            <a:solidFill>
              <a:srgbClr val="0F766E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890588" y="5571336"/>
              <a:ext cx="333375" cy="277758"/>
            </a:xfrm>
            <a:custGeom>
              <a:avLst/>
              <a:gdLst/>
              <a:ahLst/>
              <a:cxnLst/>
              <a:rect l="l" t="t" r="r" b="b"/>
              <a:pathLst>
                <a:path w="333375" h="277758">
                  <a:moveTo>
                    <a:pt x="325041" y="29216"/>
                  </a:moveTo>
                  <a:cubicBezTo>
                    <a:pt x="329592" y="31844"/>
                    <a:pt x="332638" y="36465"/>
                    <a:pt x="333258" y="41685"/>
                  </a:cubicBezTo>
                  <a:lnTo>
                    <a:pt x="333375" y="43651"/>
                  </a:lnTo>
                  <a:lnTo>
                    <a:pt x="333375" y="260345"/>
                  </a:lnTo>
                  <a:cubicBezTo>
                    <a:pt x="333375" y="266300"/>
                    <a:pt x="330198" y="271803"/>
                    <a:pt x="325040" y="274780"/>
                  </a:cubicBezTo>
                  <a:cubicBezTo>
                    <a:pt x="319883" y="277758"/>
                    <a:pt x="313529" y="277758"/>
                    <a:pt x="308372" y="274780"/>
                  </a:cubicBezTo>
                  <a:cubicBezTo>
                    <a:pt x="270021" y="252636"/>
                    <a:pt x="223179" y="250974"/>
                    <a:pt x="183356" y="270346"/>
                  </a:cubicBezTo>
                  <a:lnTo>
                    <a:pt x="183356" y="17415"/>
                  </a:lnTo>
                  <a:cubicBezTo>
                    <a:pt x="229978" y="0"/>
                    <a:pt x="281942" y="4328"/>
                    <a:pt x="325041" y="29216"/>
                  </a:cubicBezTo>
                  <a:moveTo>
                    <a:pt x="150019" y="17432"/>
                  </a:moveTo>
                  <a:lnTo>
                    <a:pt x="150035" y="270363"/>
                  </a:lnTo>
                  <a:cubicBezTo>
                    <a:pt x="111827" y="251763"/>
                    <a:pt x="67041" y="252487"/>
                    <a:pt x="29454" y="272313"/>
                  </a:cubicBezTo>
                  <a:lnTo>
                    <a:pt x="24003" y="275314"/>
                  </a:lnTo>
                  <a:lnTo>
                    <a:pt x="22286" y="276047"/>
                  </a:lnTo>
                  <a:lnTo>
                    <a:pt x="21469" y="276314"/>
                  </a:lnTo>
                  <a:lnTo>
                    <a:pt x="19636" y="276747"/>
                  </a:lnTo>
                  <a:lnTo>
                    <a:pt x="18619" y="276914"/>
                  </a:lnTo>
                  <a:lnTo>
                    <a:pt x="16669" y="277014"/>
                  </a:lnTo>
                  <a:lnTo>
                    <a:pt x="15969" y="277014"/>
                  </a:lnTo>
                  <a:lnTo>
                    <a:pt x="14135" y="276814"/>
                  </a:lnTo>
                  <a:lnTo>
                    <a:pt x="12852" y="276581"/>
                  </a:lnTo>
                  <a:lnTo>
                    <a:pt x="11051" y="276047"/>
                  </a:lnTo>
                  <a:lnTo>
                    <a:pt x="8951" y="275114"/>
                  </a:lnTo>
                  <a:lnTo>
                    <a:pt x="7368" y="274180"/>
                  </a:lnTo>
                  <a:lnTo>
                    <a:pt x="5884" y="273063"/>
                  </a:lnTo>
                  <a:lnTo>
                    <a:pt x="4884" y="272130"/>
                  </a:lnTo>
                  <a:lnTo>
                    <a:pt x="3667" y="270763"/>
                  </a:lnTo>
                  <a:lnTo>
                    <a:pt x="2600" y="269280"/>
                  </a:lnTo>
                  <a:lnTo>
                    <a:pt x="2234" y="268680"/>
                  </a:lnTo>
                  <a:lnTo>
                    <a:pt x="1700" y="267679"/>
                  </a:lnTo>
                  <a:lnTo>
                    <a:pt x="967" y="265963"/>
                  </a:lnTo>
                  <a:lnTo>
                    <a:pt x="700" y="265146"/>
                  </a:lnTo>
                  <a:lnTo>
                    <a:pt x="267" y="263312"/>
                  </a:lnTo>
                  <a:lnTo>
                    <a:pt x="100" y="262295"/>
                  </a:lnTo>
                  <a:lnTo>
                    <a:pt x="33" y="261479"/>
                  </a:lnTo>
                  <a:lnTo>
                    <a:pt x="0" y="43651"/>
                  </a:lnTo>
                  <a:cubicBezTo>
                    <a:pt x="0" y="37696"/>
                    <a:pt x="3177" y="32194"/>
                    <a:pt x="8334" y="29216"/>
                  </a:cubicBezTo>
                  <a:cubicBezTo>
                    <a:pt x="51435" y="4334"/>
                    <a:pt x="103399" y="12"/>
                    <a:pt x="150019" y="1743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421130" y="5514975"/>
              <a:ext cx="39377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在线指南：synthapi.ecobim.club/guide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422654" y="5814060"/>
              <a:ext cx="34515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 选身份 · 2 按路线阅读 · 3 下载 PDF / PPTX</a:t>
              </a:r>
            </a:p>
          </p:txBody>
        </p:sp>
        <p:sp>
          <p:nvSpPr>
            <p:cNvPr id="57" name="Freeform 57"/>
            <p:cNvSpPr/>
            <p:nvPr/>
          </p:nvSpPr>
          <p:spPr>
            <a:xfrm>
              <a:off x="9860756" y="5564981"/>
              <a:ext cx="300038" cy="316706"/>
            </a:xfrm>
            <a:custGeom>
              <a:avLst/>
              <a:gdLst/>
              <a:ahLst/>
              <a:cxnLst/>
              <a:rect l="l" t="t" r="r" b="b"/>
              <a:pathLst>
                <a:path w="300038" h="316706">
                  <a:moveTo>
                    <a:pt x="283369" y="216694"/>
                  </a:moveTo>
                  <a:cubicBezTo>
                    <a:pt x="292575" y="216694"/>
                    <a:pt x="300038" y="224157"/>
                    <a:pt x="300038" y="233362"/>
                  </a:cubicBezTo>
                  <a:lnTo>
                    <a:pt x="300038" y="266700"/>
                  </a:lnTo>
                  <a:cubicBezTo>
                    <a:pt x="300038" y="294318"/>
                    <a:pt x="277649" y="316706"/>
                    <a:pt x="250031" y="316706"/>
                  </a:cubicBezTo>
                  <a:lnTo>
                    <a:pt x="50006" y="316706"/>
                  </a:lnTo>
                  <a:cubicBezTo>
                    <a:pt x="22389" y="316706"/>
                    <a:pt x="0" y="294318"/>
                    <a:pt x="0" y="266700"/>
                  </a:cubicBezTo>
                  <a:lnTo>
                    <a:pt x="0" y="233362"/>
                  </a:lnTo>
                  <a:cubicBezTo>
                    <a:pt x="0" y="224157"/>
                    <a:pt x="7463" y="216694"/>
                    <a:pt x="16669" y="216694"/>
                  </a:cubicBezTo>
                  <a:cubicBezTo>
                    <a:pt x="25875" y="216694"/>
                    <a:pt x="33338" y="224157"/>
                    <a:pt x="33338" y="233362"/>
                  </a:cubicBezTo>
                  <a:lnTo>
                    <a:pt x="33338" y="266700"/>
                  </a:lnTo>
                  <a:cubicBezTo>
                    <a:pt x="33338" y="275906"/>
                    <a:pt x="40800" y="283369"/>
                    <a:pt x="50006" y="283369"/>
                  </a:cubicBezTo>
                  <a:lnTo>
                    <a:pt x="250031" y="283369"/>
                  </a:lnTo>
                  <a:cubicBezTo>
                    <a:pt x="259237" y="283369"/>
                    <a:pt x="266700" y="275906"/>
                    <a:pt x="266700" y="266700"/>
                  </a:cubicBezTo>
                  <a:lnTo>
                    <a:pt x="266700" y="233362"/>
                  </a:lnTo>
                  <a:cubicBezTo>
                    <a:pt x="266700" y="224157"/>
                    <a:pt x="274163" y="216694"/>
                    <a:pt x="283369" y="216694"/>
                  </a:cubicBezTo>
                  <a:moveTo>
                    <a:pt x="150019" y="0"/>
                  </a:moveTo>
                  <a:cubicBezTo>
                    <a:pt x="159225" y="0"/>
                    <a:pt x="166688" y="7463"/>
                    <a:pt x="166688" y="16669"/>
                  </a:cubicBezTo>
                  <a:lnTo>
                    <a:pt x="166688" y="176439"/>
                  </a:lnTo>
                  <a:lnTo>
                    <a:pt x="221578" y="121565"/>
                  </a:lnTo>
                  <a:cubicBezTo>
                    <a:pt x="228118" y="115248"/>
                    <a:pt x="238515" y="115339"/>
                    <a:pt x="244944" y="121768"/>
                  </a:cubicBezTo>
                  <a:cubicBezTo>
                    <a:pt x="251374" y="128198"/>
                    <a:pt x="251464" y="138594"/>
                    <a:pt x="245147" y="145135"/>
                  </a:cubicBezTo>
                  <a:lnTo>
                    <a:pt x="161804" y="228479"/>
                  </a:lnTo>
                  <a:cubicBezTo>
                    <a:pt x="161331" y="228953"/>
                    <a:pt x="160830" y="229398"/>
                    <a:pt x="160303" y="229812"/>
                  </a:cubicBezTo>
                  <a:lnTo>
                    <a:pt x="161804" y="228479"/>
                  </a:lnTo>
                  <a:cubicBezTo>
                    <a:pt x="158812" y="231467"/>
                    <a:pt x="154796" y="233207"/>
                    <a:pt x="150569" y="233346"/>
                  </a:cubicBezTo>
                  <a:lnTo>
                    <a:pt x="150019" y="233362"/>
                  </a:lnTo>
                  <a:lnTo>
                    <a:pt x="149485" y="233362"/>
                  </a:lnTo>
                  <a:lnTo>
                    <a:pt x="148585" y="233296"/>
                  </a:lnTo>
                  <a:lnTo>
                    <a:pt x="150019" y="233362"/>
                  </a:lnTo>
                  <a:cubicBezTo>
                    <a:pt x="146290" y="233363"/>
                    <a:pt x="142669" y="232113"/>
                    <a:pt x="139734" y="229812"/>
                  </a:cubicBezTo>
                  <a:cubicBezTo>
                    <a:pt x="139208" y="229398"/>
                    <a:pt x="138707" y="228953"/>
                    <a:pt x="138234" y="228479"/>
                  </a:cubicBezTo>
                  <a:lnTo>
                    <a:pt x="54890" y="145135"/>
                  </a:lnTo>
                  <a:cubicBezTo>
                    <a:pt x="48573" y="138594"/>
                    <a:pt x="48664" y="128198"/>
                    <a:pt x="55093" y="121768"/>
                  </a:cubicBezTo>
                  <a:cubicBezTo>
                    <a:pt x="61523" y="115339"/>
                    <a:pt x="71919" y="115248"/>
                    <a:pt x="78460" y="121565"/>
                  </a:cubicBezTo>
                  <a:lnTo>
                    <a:pt x="133350" y="176439"/>
                  </a:lnTo>
                  <a:lnTo>
                    <a:pt x="133350" y="16669"/>
                  </a:lnTo>
                  <a:cubicBezTo>
                    <a:pt x="133350" y="7463"/>
                    <a:pt x="140813" y="0"/>
                    <a:pt x="1500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374630" y="56102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离线手册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04266" y="6439852"/>
            <a:ext cx="11059668" cy="205359"/>
            <a:chOff x="604266" y="6439852"/>
            <a:chExt cx="11059668" cy="205359"/>
          </a:xfrm>
        </p:grpSpPr>
        <p:sp>
          <p:nvSpPr>
            <p:cNvPr id="60" name="TextBox 60"/>
            <p:cNvSpPr txBox="1"/>
            <p:nvPr/>
          </p:nvSpPr>
          <p:spPr>
            <a:xfrm>
              <a:off x="604266" y="6439852"/>
              <a:ext cx="19746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/>
                  <a:ea typeface="Microsoft YaHei"/>
                  <a:cs typeface="Arial"/>
                </a:rPr>
                <a:t>先保存请求 ID，再开始排错。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497780" y="64398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94A3B8"/>
                  </a:solidFill>
                  <a:latin typeface="Arial"/>
                  <a:ea typeface="Arial"/>
                  <a:cs typeface="Arial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2026-08-11T00:22:48Z</dcterms:created>
  <dcterms:modified xsi:type="dcterms:W3CDTF">2026-08-11T00:22:48Z</dcterms:modified>
  <cp:category/>
  <cp:contentStatus/>
</cp:coreProperties>
</file>